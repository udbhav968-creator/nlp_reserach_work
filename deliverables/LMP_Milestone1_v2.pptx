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b55e2e4-fb44-80ab-fb09-1944363dc2f1}">
          <p14:sldIdLst>
            <p14:sldId id="256"/>
          </p14:sldIdLst>
        </p14:section>
        <p14:section name="Problem" id="{08def5bc-545f-4a84-a0fe-3b5130ffb82d}">
          <p14:sldIdLst>
            <p14:sldId id="257"/>
            <p14:sldId id="258"/>
          </p14:sldIdLst>
        </p14:section>
        <p14:section name="Review" id="{16b73d87-900d-f33a-b619-db516f86166b}">
          <p14:sldIdLst>
            <p14:sldId id="259"/>
            <p14:sldId id="260"/>
          </p14:sldIdLst>
        </p14:section>
        <p14:section name="Proposal" id="{8edc72be-9ffb-ce67-2500-eaa770515c47}">
          <p14:sldIdLst>
            <p14:sldId id="261"/>
            <p14:sldId id="262"/>
          </p14:sldIdLst>
        </p14:section>
        <p14:section name="Results" id="{0037cb93-6d1f-c381-f35b-c75daf6c8f3c}">
          <p14:sldIdLst>
            <p14:sldId id="263"/>
            <p14:sldId id="264"/>
          </p14:sldIdLst>
        </p14:section>
        <p14:section name="Conclusion" id="{dd3ab9ca-11c6-7328-4697-2c39585b4dc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41"/>
                </a:solidFill>
                <a:latin typeface="+mn-lt"/>
              </a:defRPr>
            </a:pPr>
            <a:r>
              <a:rPr sz="1100" b="0" i="0" u="none" strike="noStrike">
                <a:solidFill>
                  <a:srgbClr val="1B2A41"/>
                </a:solidFill>
                <a:latin typeface="+mn-lt"/>
              </a:rPr>
              <a:t>E2: Pearson r by language</a:t>
            </a:r>
          </a:p>
        </c:rich>
      </c:tx>
      <c:layout/>
      <c:overlay val="0"/>
    </c:title>
    <c:autoTitleDeleted val="0"/>
    <c:plotArea>
      <c:layout/>
      <c:barChart>
        <c:barDir val="col"/>
        <c:grouping val="clustered"/>
        <c:varyColors val="0"/>
        <c:ser>
          <c:idx val="0"/>
          <c:order val="0"/>
          <c:tx>
            <c:strRef>
              <c:f>Sheet1!$B$1</c:f>
              <c:strCache>
                <c:ptCount val="1"/>
                <c:pt idx="0">
                  <c:v>English</c:v>
                </c:pt>
              </c:strCache>
            </c:strRef>
          </c:tx>
          <c:spPr>
            <a:solidFill>
              <a:srgbClr val="5B7DB1"/>
            </a:solidFill>
            <a:effectLst/>
          </c:spPr>
          <c:invertIfNegative val="0"/>
          <c:dLbls>
            <c:numFmt formatCode="0.00" sourceLinked="0"/>
            <c:txPr>
              <a:bodyPr/>
              <a:lstStyle/>
              <a:p>
                <a:pPr>
                  <a:defRPr b="0" i="0" strike="noStrike" sz="700" u="none">
                    <a:solidFill>
                      <a:srgbClr val="2E4057"/>
                    </a:solidFill>
                    <a:latin typeface="+mn-lt"/>
                  </a:defRPr>
                </a:pPr>
              </a:p>
            </c:txPr>
            <c:showLegendKey val="0"/>
            <c:showVal val="1"/>
            <c:showCatName val="0"/>
            <c:showSerName val="0"/>
            <c:showPercent val="0"/>
            <c:showBubbleSize val="0"/>
            <c:showLeaderLines val="0"/>
          </c:dLbls>
          <c:cat>
            <c:multiLvlStrRef>
              <c:f>Sheet1!$A$2:$A$7</c:f>
              <c:multiLvlStrCache>
                <c:ptCount val="6"/>
                <c:lvl>
                  <c:pt idx="0">
                    <c:v>chrF</c:v>
                  </c:pt>
                  <c:pt idx="1">
                    <c:v>Emb. cos</c:v>
                  </c:pt>
                  <c:pt idx="2">
                    <c:v>Tok-F1</c:v>
                  </c:pt>
                  <c:pt idx="3">
                    <c:v>LD-GBR</c:v>
                  </c:pt>
                  <c:pt idx="4">
                    <c:v>MLJB text</c:v>
                  </c:pt>
                  <c:pt idx="5">
                    <c:v>MLJB+LD</c:v>
                  </c:pt>
                </c:lvl>
              </c:multiLvlStrCache>
            </c:multiLvlStrRef>
          </c:cat>
          <c:val>
            <c:numRef>
              <c:f>Sheet1!$B$2:$B$7</c:f>
              <c:numCache>
                <c:formatCode>General</c:formatCode>
                <c:ptCount val="6"/>
                <c:pt idx="0">
                  <c:v>0.35921384496016895</c:v>
                </c:pt>
                <c:pt idx="1">
                  <c:v>0.3777038486814913</c:v>
                </c:pt>
                <c:pt idx="2">
                  <c:v>0.4212180772715941</c:v>
                </c:pt>
                <c:pt idx="3">
                  <c:v>0.6320804185752907</c:v>
                </c:pt>
                <c:pt idx="4">
                  <c:v>0.11168937526120852</c:v>
                </c:pt>
                <c:pt idx="5">
                  <c:v>0.4790987395122242</c:v>
                </c:pt>
              </c:numCache>
            </c:numRef>
          </c:val>
        </c:ser>
        <c:ser>
          <c:idx val="1"/>
          <c:order val="1"/>
          <c:tx>
            <c:strRef>
              <c:f>Sheet1!$C$1</c:f>
              <c:strCache>
                <c:ptCount val="1"/>
                <c:pt idx="0">
                  <c:v>Hindi</c:v>
                </c:pt>
              </c:strCache>
            </c:strRef>
          </c:tx>
          <c:spPr>
            <a:solidFill>
              <a:srgbClr val="C8892B"/>
            </a:solidFill>
            <a:effectLst/>
          </c:spPr>
          <c:invertIfNegative val="0"/>
          <c:dLbls>
            <c:numFmt formatCode="0.00" sourceLinked="0"/>
            <c:txPr>
              <a:bodyPr/>
              <a:lstStyle/>
              <a:p>
                <a:pPr>
                  <a:defRPr b="0" i="0" strike="noStrike" sz="700" u="none">
                    <a:solidFill>
                      <a:srgbClr val="2E4057"/>
                    </a:solidFill>
                    <a:latin typeface="+mn-lt"/>
                  </a:defRPr>
                </a:pPr>
              </a:p>
            </c:txPr>
            <c:showLegendKey val="0"/>
            <c:showVal val="1"/>
            <c:showCatName val="0"/>
            <c:showSerName val="0"/>
            <c:showPercent val="0"/>
            <c:showBubbleSize val="0"/>
            <c:showLeaderLines val="0"/>
          </c:dLbls>
          <c:cat>
            <c:multiLvlStrRef>
              <c:f>Sheet1!$A$2:$A$7</c:f>
              <c:multiLvlStrCache>
                <c:ptCount val="6"/>
                <c:lvl>
                  <c:pt idx="0">
                    <c:v>chrF</c:v>
                  </c:pt>
                  <c:pt idx="1">
                    <c:v>Emb. cos</c:v>
                  </c:pt>
                  <c:pt idx="2">
                    <c:v>Tok-F1</c:v>
                  </c:pt>
                  <c:pt idx="3">
                    <c:v>LD-GBR</c:v>
                  </c:pt>
                  <c:pt idx="4">
                    <c:v>MLJB text</c:v>
                  </c:pt>
                  <c:pt idx="5">
                    <c:v>MLJB+LD</c:v>
                  </c:pt>
                </c:lvl>
              </c:multiLvlStrCache>
            </c:multiLvlStrRef>
          </c:cat>
          <c:val>
            <c:numRef>
              <c:f>Sheet1!$C$2:$C$7</c:f>
              <c:numCache>
                <c:formatCode>General</c:formatCode>
                <c:ptCount val="6"/>
                <c:pt idx="0">
                  <c:v>0.3817209142194252</c:v>
                </c:pt>
                <c:pt idx="1">
                  <c:v>0.21436369484817247</c:v>
                </c:pt>
                <c:pt idx="2">
                  <c:v>0.2796452596157999</c:v>
                </c:pt>
                <c:pt idx="3">
                  <c:v>0.5614788185734927</c:v>
                </c:pt>
                <c:pt idx="4">
                  <c:v>0.13753311624487588</c:v>
                </c:pt>
                <c:pt idx="5">
                  <c:v>0.5015445860796878</c:v>
                </c:pt>
              </c:numCache>
            </c:numRef>
          </c:val>
        </c:ser>
        <c:dLbls>
          <c:numFmt formatCode="0.00" sourceLinked="0"/>
          <c:txPr>
            <a:bodyPr/>
            <a:lstStyle/>
            <a:p>
              <a:pPr>
                <a:defRPr b="0" i="0" strike="noStrike" sz="700" u="none">
                  <a:solidFill>
                    <a:srgbClr val="2E405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2E4057"/>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2E405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41"/>
                </a:solidFill>
                <a:latin typeface="+mn-lt"/>
              </a:defRPr>
            </a:pPr>
            <a:r>
              <a:rPr sz="1100" b="0" i="0" u="none" strike="noStrike">
                <a:solidFill>
                  <a:srgbClr val="1B2A41"/>
                </a:solidFill>
                <a:latin typeface="+mn-lt"/>
              </a:rPr>
              <a:t>E5: mean predicted LMP by gold error type</a:t>
            </a:r>
          </a:p>
        </c:rich>
      </c:tx>
      <c:layout/>
      <c:overlay val="0"/>
    </c:title>
    <c:autoTitleDeleted val="0"/>
    <c:plotArea>
      <c:layout/>
      <c:barChart>
        <c:barDir val="col"/>
        <c:grouping val="clustered"/>
        <c:varyColors val="0"/>
        <c:ser>
          <c:idx val="0"/>
          <c:order val="0"/>
          <c:tx>
            <c:strRef>
              <c:f>Sheet1!$B$1</c:f>
              <c:strCache>
                <c:ptCount val="1"/>
                <c:pt idx="0">
                  <c:v>Gold LMP</c:v>
                </c:pt>
              </c:strCache>
            </c:strRef>
          </c:tx>
          <c:spPr>
            <a:solidFill>
              <a:srgbClr val="1B2A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Faithful</c:v>
                  </c:pt>
                  <c:pt idx="1">
                    <c:v>Negation</c:v>
                  </c:pt>
                  <c:pt idx="2">
                    <c:v>Modality</c:v>
                  </c:pt>
                  <c:pt idx="3">
                    <c:v>Number</c:v>
                  </c:pt>
                  <c:pt idx="4">
                    <c:v>Date</c:v>
                  </c:pt>
                  <c:pt idx="5">
                    <c:v>Party</c:v>
                  </c:pt>
                  <c:pt idx="6">
                    <c:v>Exception</c:v>
                  </c:pt>
                  <c:pt idx="7">
                    <c:v>Condition</c:v>
                  </c:pt>
                  <c:pt idx="8">
                    <c:v>Scope</c:v>
                  </c:pt>
                  <c:pt idx="9">
                    <c:v>Halluc.</c:v>
                  </c:pt>
                  <c:pt idx="10">
                    <c:v>Minor</c:v>
                  </c:pt>
                </c:lvl>
              </c:multiLvlStrCache>
            </c:multiLvlStrRef>
          </c:cat>
          <c:val>
            <c:numRef>
              <c:f>Sheet1!$B$2:$B$12</c:f>
              <c:numCache>
                <c:formatCode>General</c:formatCode>
                <c:ptCount val="11"/>
                <c:pt idx="0">
                  <c:v>9.85</c:v>
                </c:pt>
                <c:pt idx="1">
                  <c:v>1.2857142857142858</c:v>
                </c:pt>
                <c:pt idx="2">
                  <c:v>2.5</c:v>
                </c:pt>
                <c:pt idx="3">
                  <c:v>2.25</c:v>
                </c:pt>
                <c:pt idx="4">
                  <c:v>2.4</c:v>
                </c:pt>
                <c:pt idx="5">
                  <c:v>2</c:v>
                </c:pt>
                <c:pt idx="6">
                  <c:v>2.5</c:v>
                </c:pt>
                <c:pt idx="7">
                  <c:v>3.2</c:v>
                </c:pt>
                <c:pt idx="8">
                  <c:v>3.272727272727273</c:v>
                </c:pt>
                <c:pt idx="9">
                  <c:v>2.75</c:v>
                </c:pt>
                <c:pt idx="10">
                  <c:v>5.875</c:v>
                </c:pt>
              </c:numCache>
            </c:numRef>
          </c:val>
        </c:ser>
        <c:ser>
          <c:idx val="1"/>
          <c:order val="1"/>
          <c:tx>
            <c:strRef>
              <c:f>Sheet1!$C$1</c:f>
              <c:strCache>
                <c:ptCount val="1"/>
                <c:pt idx="0">
                  <c:v>Embedding cosine</c:v>
                </c:pt>
              </c:strCache>
            </c:strRef>
          </c:tx>
          <c:spPr>
            <a:solidFill>
              <a:srgbClr val="8E9AA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Faithful</c:v>
                  </c:pt>
                  <c:pt idx="1">
                    <c:v>Negation</c:v>
                  </c:pt>
                  <c:pt idx="2">
                    <c:v>Modality</c:v>
                  </c:pt>
                  <c:pt idx="3">
                    <c:v>Number</c:v>
                  </c:pt>
                  <c:pt idx="4">
                    <c:v>Date</c:v>
                  </c:pt>
                  <c:pt idx="5">
                    <c:v>Party</c:v>
                  </c:pt>
                  <c:pt idx="6">
                    <c:v>Exception</c:v>
                  </c:pt>
                  <c:pt idx="7">
                    <c:v>Condition</c:v>
                  </c:pt>
                  <c:pt idx="8">
                    <c:v>Scope</c:v>
                  </c:pt>
                  <c:pt idx="9">
                    <c:v>Halluc.</c:v>
                  </c:pt>
                  <c:pt idx="10">
                    <c:v>Minor</c:v>
                  </c:pt>
                </c:lvl>
              </c:multiLvlStrCache>
            </c:multiLvlStrRef>
          </c:cat>
          <c:val>
            <c:numRef>
              <c:f>Sheet1!$C$2:$C$12</c:f>
              <c:numCache>
                <c:formatCode>General</c:formatCode>
                <c:ptCount val="11"/>
                <c:pt idx="0">
                  <c:v>6.484661162501896</c:v>
                </c:pt>
                <c:pt idx="1">
                  <c:v>6.1841652051946685</c:v>
                </c:pt>
                <c:pt idx="2">
                  <c:v>6.172318989868568</c:v>
                </c:pt>
                <c:pt idx="3">
                  <c:v>6.3023356358617875</c:v>
                </c:pt>
                <c:pt idx="4">
                  <c:v>6.425028504395843</c:v>
                </c:pt>
                <c:pt idx="5">
                  <c:v>6.081942390948479</c:v>
                </c:pt>
                <c:pt idx="6">
                  <c:v>6.193810284794002</c:v>
                </c:pt>
                <c:pt idx="7">
                  <c:v>6.152283900148347</c:v>
                </c:pt>
                <c:pt idx="8">
                  <c:v>6.359984766665741</c:v>
                </c:pt>
                <c:pt idx="9">
                  <c:v>6.213412062496016</c:v>
                </c:pt>
                <c:pt idx="10">
                  <c:v>6.220556519230888</c:v>
                </c:pt>
              </c:numCache>
            </c:numRef>
          </c:val>
        </c:ser>
        <c:ser>
          <c:idx val="2"/>
          <c:order val="2"/>
          <c:tx>
            <c:strRef>
              <c:f>Sheet1!$D$1</c:f>
              <c:strCache>
                <c:ptCount val="1"/>
                <c:pt idx="0">
                  <c:v>LegalDiff-GBR</c:v>
                </c:pt>
              </c:strCache>
            </c:strRef>
          </c:tx>
          <c:spPr>
            <a:solidFill>
              <a:srgbClr val="2A7F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Faithful</c:v>
                  </c:pt>
                  <c:pt idx="1">
                    <c:v>Negation</c:v>
                  </c:pt>
                  <c:pt idx="2">
                    <c:v>Modality</c:v>
                  </c:pt>
                  <c:pt idx="3">
                    <c:v>Number</c:v>
                  </c:pt>
                  <c:pt idx="4">
                    <c:v>Date</c:v>
                  </c:pt>
                  <c:pt idx="5">
                    <c:v>Party</c:v>
                  </c:pt>
                  <c:pt idx="6">
                    <c:v>Exception</c:v>
                  </c:pt>
                  <c:pt idx="7">
                    <c:v>Condition</c:v>
                  </c:pt>
                  <c:pt idx="8">
                    <c:v>Scope</c:v>
                  </c:pt>
                  <c:pt idx="9">
                    <c:v>Halluc.</c:v>
                  </c:pt>
                  <c:pt idx="10">
                    <c:v>Minor</c:v>
                  </c:pt>
                </c:lvl>
              </c:multiLvlStrCache>
            </c:multiLvlStrRef>
          </c:cat>
          <c:val>
            <c:numRef>
              <c:f>Sheet1!$D$2:$D$12</c:f>
              <c:numCache>
                <c:formatCode>General</c:formatCode>
                <c:ptCount val="11"/>
                <c:pt idx="0">
                  <c:v>8.029107773071393</c:v>
                </c:pt>
                <c:pt idx="1">
                  <c:v>4.840837833534539</c:v>
                </c:pt>
                <c:pt idx="2">
                  <c:v>4.571291566570677</c:v>
                </c:pt>
                <c:pt idx="3">
                  <c:v>3.326373185612657</c:v>
                </c:pt>
                <c:pt idx="4">
                  <c:v>3.580415145525117</c:v>
                </c:pt>
                <c:pt idx="5">
                  <c:v>5.923624241610282</c:v>
                </c:pt>
                <c:pt idx="6">
                  <c:v>4.267975306382406</c:v>
                </c:pt>
                <c:pt idx="7">
                  <c:v>4.197060019649512</c:v>
                </c:pt>
                <c:pt idx="8">
                  <c:v>6.099551472971603</c:v>
                </c:pt>
                <c:pt idx="9">
                  <c:v>6.169685169650132</c:v>
                </c:pt>
                <c:pt idx="10">
                  <c:v>5.221726959233355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2E4057"/>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2E4057"/>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850">
              <a:solidFill>
                <a:srgbClr val="2E405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 Good morning. Our project asks a simple question with legal consequences: when a legal sentence is simplified, is its legal meaning still the same? We extend the JUDGEBERT metric (EMNLP 2025), which was built for French insurance text, to English and Hindi and to a new legal domain, and we add explanations of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Plain-language rewriting of contracts and policies is now common, often done by LLMs. Here is a real pair from our dataset. Version B removes a single word, 'not', and turns an exclusion into coverage. A generic sentence-embedding similarity (WordLlama static embeddings) gives 0.85 and 0.84 — practically identical — while a lawyer would score A as 10 and B as 1. This is the problem we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We analysed where legal meaning is lost and derived an eight-category taxonomy from the project brief. Each is a small surface edit with a large legal effect, which is why generic similarity fails. We then formalise the task: a scoring function f-theta maps an original and a simplification to an LMP score between 1 and 10; a decision rule turns the score into Preserved, Partially or Not preserved; and an explanation function returns the error type and a short rationale. Success is measured by correlation and RMSE against human LMP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This table reviews eight representative systems in chronological order. Lexical metrics — BLEU, chrF, SARI — measure surface overlap. Embedding metrics like SBERT and BERTScore measure general semantic closeness, and we showed on slide 2 they cannot separate 'covers' from 'does not cover'. MeaningBERT learns meaning preservation but is not legal. LLM judges explain, but are costly and not reproducible. JUDGEBERT is the only legal-aware metric, but it is limited to French insurance and gives no reasons. That defines our research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Our base paper, JUDGEBERT, defines Legal Meaning Preservation and releases FrJUDGE: 297 French insurance pairs, each scored 1 to 10 by five annotators — we verified this in the released data. Its model is a BERT regressor trained with identical and unrelated pairs as augmentation. The paper's own limitations — one language, one domain, small data, no out-of-domain test, no explanation — become our five extensions. The research question asks whether the approach transfers to Hindi and a new domain and beats generic similarity, and five objectives operationalise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 Methodology. Like JUDGEBERT, the model reads the original and the simplification together as one cross-encoded sequence, so attention can compare them token by token. We pool the CLS vector together with difference and product features of the two sentences. In parallel the LegalDiff extractor computes 19 interpretable legal-difference features in English and Hindi. A fusion head regresses the score on the 1–10 scale; a threshold rule gives the decision and the explainer the error type and reason. The dataset has 320 pairs plus 320 held-out sanity pairs. For this milestone the encoder is a 2-layer transformer trained from scratch on CPU, because pretrained-model downloads were unavailable; the GPU fine-tune of XLM-R or MuRIL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Each technique is justified by the problem. chrF works at character level, which suits Hindi morphology. Embedding cosine and BERTScore-style alignment are the generic similarity the brief asks us to beat. Gradient-boosted trees learn non-linear combinations of the sparse LegalDiff features from only a few hundred pairs, which is why that model is strongest today. The cross-encoder lets attention compare the two sentences token by token; its pretrained version will use XLM-R, which covers 100 languages, or MuRIL, trained on 17 Indian languages. The regression formulation matches JUDGEBERT, so our numbers are comparable. Augmentation anchors the scale, and LegalDiff makes predictions auditable. The bottom row defines the evaluation metrics we report: correlation, error, F1 and sanity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 Experiment 1 compares three generic similarity baselines with three learned LMP models under 5-fold cross-validation grouped by clause, so the English and Hindi versions of a clause never sit in different folds. The legal-difference model LegalDiff-GBR is best on every metric: Pearson 0.60 against 0.37 for chrF, the strongest generic metric, and it is the only system that detects 'Not preserved' pairs reliably (F1 0.61). Generic baselines are calibrated to the 1–10 scale but cluster in the middle, so their decision F1 is near zero. The chart is Experiment 2's per-language view: embedding-based similarity loses almost half its correlation on Hindi, while LegalDiff stays between 0.56 and 0.63 in both languages. Our JUDGEBERT-style encoder trained from scratch, without pretrained weights, does not learn on its own — r 0.12 — but fusing LegalDiff lifts it to 0.49. This tells us the architecture works when it has legal signal and that a pretrained multilingual encoder is the key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 Left, Experiment 2: models trained on English only and tested on Hindi, and the reverse, on held-out clauses. LegalDiff transfers well — 0.52 and 0.60 — because its features are defined for both languages, while embedding cosine collapses to 0.04 on Hindi. Right, Experiment 3: training on insurance and testing on tenancy, or the reverse, keeps the correlation between 0.51 and 0.57. The FrJUDGE rows are the strongest evidence: these are real human LMP judgements from the base paper, in French. Models trained only on our English–Hindi data reach 0.60 to 0.61, above every generic metric, and embedding cosine is negatively correlated. Bottom, Experiment 4: the sanity checks from JUDGEBERT. Our augmented models give identical pairs about 10 and unrelated pairs between 1.2 and 1.5, whereas generic embeddings give unrelated Hindi sentences 6.6 out of 10 — a clear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 Experiment 5 looks inside the errors. The chart shows the mean predicted score for each gold error type. The gold scores, in dark, are low for every error type. The generic embedding score, in grey, stays around 6 to 7 for every type — it cannot tell a faithful rewrite from a negation or a changed number. Our LegalDiff model follows the gold pattern much more closely. The explanation module detects that a legal error exists with F1 0.79 and names the exact error type in 42 percent of error cases, across eleven classes. The cards show two correct explanations — a Hindi negation, and a six-month to three-month change that our code review fixed (v1 missed hyphenated numbers) — and one honest failure: when 'does not cover' becomes 'pays for', the negation is removed by changing the verb, which our lexicon does not capture. That points to the need for a pretrained encoder. In conclusion: generic similarity is not a legal-meaning metric, explicit legal-difference modelling is the strongest signal in both languages and even transfers to the French human-labelled data, and the JUDGEBERT-style encoder needs pretraining. The main caveat is that our labels are rubric-based silver labels; human double annotation is the next milestone.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960120"/>
            <a:ext cx="5669280" cy="173736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rtlCol="0"/>
          <a:lstStyle>
            <a:lvl1pPr indent="0" marL="0">
              <a:buNone/>
              <a:defRPr lang="en-US" sz="2800" b="1" dirty="0">
                <a:solidFill>
                  <a:schemeClr val="tx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chemeClr val="accent5"/>
                </a:solidFill>
              </a:rPr>
              <a:t>CSET 346 · NLP · Milestone 1</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502920"/>
            <a:ext cx="64008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CSET 346 · NATURAL LANGUAGE PROCESSING · MILESTONE 1 REVIEW</a:t>
            </a:r>
            <a:endParaRPr lang="en-US" sz="1100" dirty="0"/>
          </a:p>
        </p:txBody>
      </p:sp>
      <p:sp>
        <p:nvSpPr>
          <p:cNvPr id="3" name="Text 0"/>
          <p:cNvSpPr/>
          <p:nvPr>
            <p:ph idx="100" type="title" hasCustomPrompt="1"/>
          </p:nvPr>
        </p:nvSpPr>
        <p:spPr>
          <a:xfrm>
            <a:off x="457200" y="960120"/>
            <a:ext cx="5669280" cy="173736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Explainable Multilingual Legal Meaning Preservation Using JUDGEBERT</a:t>
            </a:r>
            <a:endParaRPr lang="en-US" sz="3200" dirty="0"/>
          </a:p>
        </p:txBody>
      </p:sp>
      <p:sp>
        <p:nvSpPr>
          <p:cNvPr id="4" name="Text 2"/>
          <p:cNvSpPr txBox="1"/>
          <p:nvPr/>
        </p:nvSpPr>
        <p:spPr>
          <a:xfrm>
            <a:off x="457200" y="2487168"/>
            <a:ext cx="8229600" cy="411480"/>
          </a:xfrm>
          <a:prstGeom prst="rect">
            <a:avLst/>
          </a:prstGeom>
          <a:noFill/>
          <a:ln/>
        </p:spPr>
        <p:txBody>
          <a:bodyPr wrap="square" lIns="0" tIns="0" rIns="0" bIns="0" rtlCol="0" anchor="ctr"/>
          <a:lstStyle/>
          <a:p>
            <a:pPr indent="0" marL="0">
              <a:buNone/>
            </a:pPr>
            <a:r>
              <a:rPr lang="en-US" sz="1400" i="1" dirty="0">
                <a:solidFill>
                  <a:srgbClr val="CADCEB"/>
                </a:solidFill>
              </a:rPr>
              <a:t>An English + Hindi extension of JUDGEBERT that scores, decides and explains legal meaning</a:t>
            </a:r>
            <a:endParaRPr lang="en-US" sz="1400" dirty="0"/>
          </a:p>
        </p:txBody>
      </p:sp>
      <p:sp>
        <p:nvSpPr>
          <p:cNvPr id="5" name="title-icon-circle"/>
          <p:cNvSpPr/>
          <p:nvPr/>
        </p:nvSpPr>
        <p:spPr>
          <a:xfrm>
            <a:off x="6903720" y="868680"/>
            <a:ext cx="1508760" cy="1508760"/>
          </a:xfrm>
          <a:prstGeom prst="ellipse">
            <a:avLst/>
          </a:prstGeom>
          <a:solidFill>
            <a:schemeClr val="accent1"/>
          </a:solidFill>
          <a:ln/>
        </p:spPr>
      </p:sp>
      <p:pic>
        <p:nvPicPr>
          <p:cNvPr id="6" name="title-icon" descr="preencoded.png">    </p:cNvPr>
          <p:cNvPicPr>
            <a:picLocks noChangeAspect="1"/>
          </p:cNvPicPr>
          <p:nvPr/>
        </p:nvPicPr>
        <p:blipFill>
          <a:blip r:embed="rId1"/>
          <a:stretch>
            <a:fillRect/>
          </a:stretch>
        </p:blipFill>
        <p:spPr>
          <a:xfrm>
            <a:off x="7269480" y="1234440"/>
            <a:ext cx="777240" cy="777240"/>
          </a:xfrm>
          <a:prstGeom prst="rect">
            <a:avLst/>
          </a:prstGeom>
        </p:spPr>
      </p:pic>
      <p:sp>
        <p:nvSpPr>
          <p:cNvPr id="7" name="kpi-0"/>
          <p:cNvSpPr/>
          <p:nvPr/>
        </p:nvSpPr>
        <p:spPr>
          <a:xfrm>
            <a:off x="457200" y="3017520"/>
            <a:ext cx="2651760" cy="731520"/>
          </a:xfrm>
          <a:prstGeom prst="roundRect">
            <a:avLst>
              <a:gd name="adj" fmla="val 10000"/>
            </a:avLst>
          </a:prstGeom>
          <a:solidFill>
            <a:srgbClr val="24364F"/>
          </a:solidFill>
          <a:ln/>
        </p:spPr>
      </p:sp>
      <p:sp>
        <p:nvSpPr>
          <p:cNvPr id="8" name="Text 5"/>
          <p:cNvSpPr txBox="1"/>
          <p:nvPr/>
        </p:nvSpPr>
        <p:spPr>
          <a:xfrm>
            <a:off x="594360" y="3044952"/>
            <a:ext cx="2377440" cy="384048"/>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640</a:t>
            </a:r>
            <a:endParaRPr lang="en-US" sz="2200" dirty="0"/>
          </a:p>
        </p:txBody>
      </p:sp>
      <p:sp>
        <p:nvSpPr>
          <p:cNvPr id="9" name="Text 6"/>
          <p:cNvSpPr txBox="1"/>
          <p:nvPr/>
        </p:nvSpPr>
        <p:spPr>
          <a:xfrm>
            <a:off x="594360" y="3429000"/>
            <a:ext cx="2423160" cy="274320"/>
          </a:xfrm>
          <a:prstGeom prst="rect">
            <a:avLst/>
          </a:prstGeom>
          <a:noFill/>
          <a:ln/>
        </p:spPr>
        <p:txBody>
          <a:bodyPr wrap="square" lIns="0" tIns="0" rIns="0" bIns="0" rtlCol="0" anchor="ctr"/>
          <a:lstStyle/>
          <a:p>
            <a:pPr indent="0" marL="0">
              <a:buNone/>
            </a:pPr>
            <a:r>
              <a:rPr lang="en-US" sz="1050" dirty="0">
                <a:solidFill>
                  <a:srgbClr val="CADCEB"/>
                </a:solidFill>
              </a:rPr>
              <a:t>EN–HI pairs: 320 scored + 320 sanity</a:t>
            </a:r>
            <a:endParaRPr lang="en-US" sz="1050" dirty="0"/>
          </a:p>
        </p:txBody>
      </p:sp>
      <p:sp>
        <p:nvSpPr>
          <p:cNvPr id="10" name="kpi-1"/>
          <p:cNvSpPr/>
          <p:nvPr/>
        </p:nvSpPr>
        <p:spPr>
          <a:xfrm>
            <a:off x="3246120" y="3017520"/>
            <a:ext cx="2651760" cy="731520"/>
          </a:xfrm>
          <a:prstGeom prst="roundRect">
            <a:avLst>
              <a:gd name="adj" fmla="val 10000"/>
            </a:avLst>
          </a:prstGeom>
          <a:solidFill>
            <a:srgbClr val="24364F"/>
          </a:solidFill>
          <a:ln/>
        </p:spPr>
      </p:sp>
      <p:sp>
        <p:nvSpPr>
          <p:cNvPr id="11" name="Text 8"/>
          <p:cNvSpPr txBox="1"/>
          <p:nvPr/>
        </p:nvSpPr>
        <p:spPr>
          <a:xfrm>
            <a:off x="3383280" y="3044952"/>
            <a:ext cx="2377440" cy="384048"/>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0.60 vs 0.37</a:t>
            </a:r>
            <a:endParaRPr lang="en-US" sz="2200" dirty="0"/>
          </a:p>
        </p:txBody>
      </p:sp>
      <p:sp>
        <p:nvSpPr>
          <p:cNvPr id="12" name="Text 9"/>
          <p:cNvSpPr txBox="1"/>
          <p:nvPr/>
        </p:nvSpPr>
        <p:spPr>
          <a:xfrm>
            <a:off x="3383280" y="3429000"/>
            <a:ext cx="2423160" cy="274320"/>
          </a:xfrm>
          <a:prstGeom prst="rect">
            <a:avLst/>
          </a:prstGeom>
          <a:noFill/>
          <a:ln/>
        </p:spPr>
        <p:txBody>
          <a:bodyPr wrap="square" lIns="0" tIns="0" rIns="0" bIns="0" rtlCol="0" anchor="ctr"/>
          <a:lstStyle/>
          <a:p>
            <a:pPr indent="0" marL="0">
              <a:buNone/>
            </a:pPr>
            <a:r>
              <a:rPr lang="en-US" sz="1050" dirty="0">
                <a:solidFill>
                  <a:srgbClr val="CADCEB"/>
                </a:solidFill>
              </a:rPr>
              <a:t>legal-aware vs best generic metric (r)</a:t>
            </a:r>
            <a:endParaRPr lang="en-US" sz="1050" dirty="0"/>
          </a:p>
        </p:txBody>
      </p:sp>
      <p:sp>
        <p:nvSpPr>
          <p:cNvPr id="13" name="kpi-2"/>
          <p:cNvSpPr/>
          <p:nvPr/>
        </p:nvSpPr>
        <p:spPr>
          <a:xfrm>
            <a:off x="6035040" y="3017520"/>
            <a:ext cx="2651760" cy="731520"/>
          </a:xfrm>
          <a:prstGeom prst="roundRect">
            <a:avLst>
              <a:gd name="adj" fmla="val 10000"/>
            </a:avLst>
          </a:prstGeom>
          <a:solidFill>
            <a:srgbClr val="24364F"/>
          </a:solidFill>
          <a:ln/>
        </p:spPr>
      </p:sp>
      <p:sp>
        <p:nvSpPr>
          <p:cNvPr id="14" name="Text 11"/>
          <p:cNvSpPr txBox="1"/>
          <p:nvPr/>
        </p:nvSpPr>
        <p:spPr>
          <a:xfrm>
            <a:off x="6172200" y="3044952"/>
            <a:ext cx="2377440" cy="384048"/>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0.61</a:t>
            </a:r>
            <a:endParaRPr lang="en-US" sz="2200" dirty="0"/>
          </a:p>
        </p:txBody>
      </p:sp>
      <p:sp>
        <p:nvSpPr>
          <p:cNvPr id="15" name="Text 12"/>
          <p:cNvSpPr txBox="1"/>
          <p:nvPr/>
        </p:nvSpPr>
        <p:spPr>
          <a:xfrm>
            <a:off x="6172200" y="3429000"/>
            <a:ext cx="2423160" cy="274320"/>
          </a:xfrm>
          <a:prstGeom prst="rect">
            <a:avLst/>
          </a:prstGeom>
          <a:noFill/>
          <a:ln/>
        </p:spPr>
        <p:txBody>
          <a:bodyPr wrap="square" lIns="0" tIns="0" rIns="0" bIns="0" rtlCol="0" anchor="ctr"/>
          <a:lstStyle/>
          <a:p>
            <a:pPr indent="0" marL="0">
              <a:buNone/>
            </a:pPr>
            <a:r>
              <a:rPr lang="en-US" sz="1050" dirty="0">
                <a:solidFill>
                  <a:srgbClr val="CADCEB"/>
                </a:solidFill>
              </a:rPr>
              <a:t>zero-shot r on human-scored French data</a:t>
            </a:r>
            <a:endParaRPr lang="en-US" sz="1050" dirty="0"/>
          </a:p>
        </p:txBody>
      </p:sp>
      <p:sp>
        <p:nvSpPr>
          <p:cNvPr id="16" name="title-info-card"/>
          <p:cNvSpPr/>
          <p:nvPr/>
        </p:nvSpPr>
        <p:spPr>
          <a:xfrm>
            <a:off x="457200" y="3886200"/>
            <a:ext cx="8229600" cy="822960"/>
          </a:xfrm>
          <a:prstGeom prst="roundRect">
            <a:avLst>
              <a:gd name="adj" fmla="val 8889"/>
            </a:avLst>
          </a:prstGeom>
          <a:solidFill>
            <a:srgbClr val="24364F"/>
          </a:solidFill>
          <a:ln/>
        </p:spPr>
      </p:sp>
      <p:sp>
        <p:nvSpPr>
          <p:cNvPr id="17" name="Text 14"/>
          <p:cNvSpPr txBox="1"/>
          <p:nvPr/>
        </p:nvSpPr>
        <p:spPr>
          <a:xfrm>
            <a:off x="685800" y="3931920"/>
            <a:ext cx="7863840" cy="731520"/>
          </a:xfrm>
          <a:prstGeom prst="rect">
            <a:avLst/>
          </a:prstGeom>
          <a:noFill/>
          <a:ln/>
        </p:spPr>
        <p:txBody>
          <a:bodyPr wrap="square" lIns="0" tIns="0" rIns="0" bIns="0" rtlCol="0" anchor="ctr"/>
          <a:lstStyle/>
          <a:p>
            <a:pPr indent="0" marL="0">
              <a:spcAft>
                <a:spcPts val="200"/>
              </a:spcAft>
              <a:buNone/>
            </a:pPr>
            <a:r>
              <a:rPr lang="en-US" sz="1300" b="1" dirty="0">
                <a:solidFill>
                  <a:srgbClr val="C8892B"/>
                </a:solidFill>
              </a:rPr>
              <a:t>Team (PID-__): </a:t>
            </a:r>
            <a:pPr indent="0" marL="0">
              <a:spcAft>
                <a:spcPts val="200"/>
              </a:spcAft>
              <a:buNone/>
            </a:pPr>
            <a:r>
              <a:rPr lang="en-US" sz="1300" dirty="0">
                <a:solidFill>
                  <a:srgbClr val="FFFFFF"/>
                </a:solidFill>
              </a:rPr>
              <a:t>Student Name 1 · Student Name 2 · Student Name 3</a:t>
            </a:r>
            <a:endParaRPr lang="en-US" sz="1300" dirty="0"/>
          </a:p>
          <a:p>
            <a:pPr indent="0" marL="0">
              <a:spcAft>
                <a:spcPts val="200"/>
              </a:spcAft>
              <a:buNone/>
            </a:pPr>
            <a:r>
              <a:rPr lang="en-US" sz="1300" b="1" dirty="0">
                <a:solidFill>
                  <a:srgbClr val="C8892B"/>
                </a:solidFill>
              </a:rPr>
              <a:t>Evaluators: </a:t>
            </a:r>
            <a:pPr indent="0" marL="0">
              <a:spcAft>
                <a:spcPts val="200"/>
              </a:spcAft>
              <a:buNone/>
            </a:pPr>
            <a:r>
              <a:rPr lang="en-US" sz="1300" dirty="0">
                <a:solidFill>
                  <a:srgbClr val="FFFFFF"/>
                </a:solidFill>
              </a:rPr>
              <a:t>Dr. Surabhi Solanki · Dr. Ankur</a:t>
            </a:r>
            <a:pPr indent="0" marL="0">
              <a:spcAft>
                <a:spcPts val="200"/>
              </a:spcAft>
              <a:buNone/>
            </a:pPr>
            <a:r>
              <a:rPr lang="en-US" sz="1300" dirty="0">
                <a:solidFill>
                  <a:srgbClr val="CADCEB"/>
                </a:solidFill>
              </a:rPr>
              <a:t>   |   Lab BLA-211-B · 14 Oct 2026, 10:00 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Problem domain: plain-language law</a:t>
            </a:r>
            <a:endParaRPr lang="en-US" sz="2800" dirty="0"/>
          </a:p>
        </p:txBody>
      </p:sp>
      <p:sp>
        <p:nvSpPr>
          <p:cNvPr id="3" name="Text 1"/>
          <p:cNvSpPr txBox="1"/>
          <p:nvPr/>
        </p:nvSpPr>
        <p:spPr>
          <a:xfrm>
            <a:off x="457200" y="960120"/>
            <a:ext cx="3566160" cy="3566160"/>
          </a:xfrm>
          <a:prstGeom prst="rect">
            <a:avLst/>
          </a:prstGeom>
          <a:noFill/>
          <a:ln/>
        </p:spPr>
        <p:txBody>
          <a:bodyPr wrap="square" lIns="0" tIns="0" rIns="0" bIns="0" rtlCol="0" anchor="t"/>
          <a:lstStyle/>
          <a:p>
            <a:pPr indent="0" marL="0">
              <a:spcAft>
                <a:spcPts val="600"/>
              </a:spcAft>
              <a:buNone/>
            </a:pPr>
            <a:r>
              <a:rPr lang="en-US" sz="1400" b="1" dirty="0">
                <a:solidFill>
                  <a:srgbClr val="1B2A41"/>
                </a:solidFill>
              </a:rPr>
              <a:t>Legal simplification</a:t>
            </a:r>
            <a:endParaRPr lang="en-US" sz="1400" dirty="0"/>
          </a:p>
          <a:p>
            <a:pPr indent="0" marL="0">
              <a:spcAft>
                <a:spcPts val="600"/>
              </a:spcAft>
              <a:buNone/>
            </a:pPr>
            <a:r>
              <a:rPr lang="en-US" sz="1400" dirty="0">
                <a:solidFill>
                  <a:schemeClr val="tx2"/>
                </a:solidFill>
              </a:rPr>
              <a:t>Insurance policies and rent agreements are rewritten in plain language so citizens can read them.</a:t>
            </a:r>
            <a:endParaRPr lang="en-US" sz="1400" dirty="0"/>
          </a:p>
          <a:p>
            <a:pPr indent="0" marL="0">
              <a:spcAft>
                <a:spcPts val="600"/>
              </a:spcAft>
              <a:buNone/>
            </a:pPr>
            <a:r>
              <a:rPr lang="en-US" sz="1400" b="1" dirty="0">
                <a:solidFill>
                  <a:srgbClr val="1B2A41"/>
                </a:solidFill>
              </a:rPr>
              <a:t>The risk</a:t>
            </a:r>
            <a:endParaRPr lang="en-US" sz="1400" dirty="0"/>
          </a:p>
          <a:p>
            <a:pPr indent="0" marL="0">
              <a:spcAft>
                <a:spcPts val="600"/>
              </a:spcAft>
              <a:buNone/>
            </a:pPr>
            <a:r>
              <a:rPr lang="en-US" sz="1400" dirty="0">
                <a:solidFill>
                  <a:schemeClr val="tx2"/>
                </a:solidFill>
              </a:rPr>
              <a:t>A one-word edit can flip a duty, drop a condition or change a deadline, while the text still looks almost the same.</a:t>
            </a:r>
            <a:endParaRPr lang="en-US" sz="1400" dirty="0"/>
          </a:p>
          <a:p>
            <a:pPr indent="0" marL="0">
              <a:spcAft>
                <a:spcPts val="600"/>
              </a:spcAft>
              <a:buNone/>
            </a:pPr>
            <a:r>
              <a:rPr lang="en-US" sz="1400" b="1" dirty="0">
                <a:solidFill>
                  <a:srgbClr val="1B2A41"/>
                </a:solidFill>
              </a:rPr>
              <a:t>The gap</a:t>
            </a:r>
            <a:endParaRPr lang="en-US" sz="1400" dirty="0"/>
          </a:p>
          <a:p>
            <a:pPr indent="0" marL="0">
              <a:spcAft>
                <a:spcPts val="600"/>
              </a:spcAft>
              <a:buNone/>
            </a:pPr>
            <a:r>
              <a:rPr lang="en-US" sz="1400" dirty="0">
                <a:solidFill>
                  <a:schemeClr val="tx2"/>
                </a:solidFill>
              </a:rPr>
              <a:t>Generic similarity scores reward surface overlap, not legal effect, and none exist for Hindi legal text.</a:t>
            </a:r>
            <a:endParaRPr lang="en-US" sz="1400" dirty="0"/>
          </a:p>
        </p:txBody>
      </p:sp>
      <p:sp>
        <p:nvSpPr>
          <p:cNvPr id="4" name="example-card"/>
          <p:cNvSpPr/>
          <p:nvPr/>
        </p:nvSpPr>
        <p:spPr>
          <a:xfrm>
            <a:off x="4297680" y="960120"/>
            <a:ext cx="4389120" cy="3611880"/>
          </a:xfrm>
          <a:prstGeom prst="roundRect">
            <a:avLst>
              <a:gd name="adj" fmla="val 2025"/>
            </a:avLst>
          </a:prstGeom>
          <a:solidFill>
            <a:schemeClr val="bg2"/>
          </a:solidFill>
          <a:ln/>
        </p:spPr>
      </p:sp>
      <p:sp>
        <p:nvSpPr>
          <p:cNvPr id="5" name="Text 3"/>
          <p:cNvSpPr txBox="1"/>
          <p:nvPr/>
        </p:nvSpPr>
        <p:spPr>
          <a:xfrm>
            <a:off x="4480560" y="1051560"/>
            <a:ext cx="4023360" cy="256032"/>
          </a:xfrm>
          <a:prstGeom prst="rect">
            <a:avLst/>
          </a:prstGeom>
          <a:noFill/>
          <a:ln/>
        </p:spPr>
        <p:txBody>
          <a:bodyPr wrap="square" lIns="0" tIns="0" rIns="0" bIns="0" rtlCol="0" anchor="ctr"/>
          <a:lstStyle/>
          <a:p>
            <a:pPr indent="0" marL="0">
              <a:buNone/>
            </a:pPr>
            <a:r>
              <a:rPr lang="en-US" sz="1100" b="1" dirty="0">
                <a:solidFill>
                  <a:schemeClr val="accent5"/>
                </a:solidFill>
              </a:rPr>
              <a:t>Original (insurance policy)</a:t>
            </a:r>
            <a:endParaRPr lang="en-US" sz="1100" dirty="0"/>
          </a:p>
        </p:txBody>
      </p:sp>
      <p:sp>
        <p:nvSpPr>
          <p:cNvPr id="6" name="Text 4"/>
          <p:cNvSpPr txBox="1"/>
          <p:nvPr/>
        </p:nvSpPr>
        <p:spPr>
          <a:xfrm>
            <a:off x="4480560" y="1307592"/>
            <a:ext cx="4023360" cy="548640"/>
          </a:xfrm>
          <a:prstGeom prst="rect">
            <a:avLst/>
          </a:prstGeom>
          <a:noFill/>
          <a:ln/>
        </p:spPr>
        <p:txBody>
          <a:bodyPr wrap="square" lIns="0" tIns="0" rIns="0" bIns="0" rtlCol="0" anchor="ctr"/>
          <a:lstStyle/>
          <a:p>
            <a:pPr indent="0" marL="0">
              <a:buNone/>
            </a:pPr>
            <a:r>
              <a:rPr lang="en-US" sz="1200" i="1" dirty="0">
                <a:solidFill>
                  <a:schemeClr val="tx1"/>
                </a:solidFill>
              </a:rPr>
              <a:t>“The policy does not cover damage … caused by wear and tear, gradual deterioration, or inherent defect.”</a:t>
            </a:r>
            <a:endParaRPr lang="en-US" sz="1200" dirty="0"/>
          </a:p>
        </p:txBody>
      </p:sp>
      <p:sp>
        <p:nvSpPr>
          <p:cNvPr id="7" name="simp-0"/>
          <p:cNvSpPr/>
          <p:nvPr/>
        </p:nvSpPr>
        <p:spPr>
          <a:xfrm>
            <a:off x="4480560" y="1965960"/>
            <a:ext cx="4023360" cy="841248"/>
          </a:xfrm>
          <a:prstGeom prst="roundRect">
            <a:avLst>
              <a:gd name="adj" fmla="val 8696"/>
            </a:avLst>
          </a:prstGeom>
          <a:solidFill>
            <a:srgbClr val="FFFFFF"/>
          </a:solidFill>
          <a:ln/>
        </p:spPr>
      </p:sp>
      <p:sp>
        <p:nvSpPr>
          <p:cNvPr id="8" name="Text 6"/>
          <p:cNvSpPr txBox="1"/>
          <p:nvPr/>
        </p:nvSpPr>
        <p:spPr>
          <a:xfrm>
            <a:off x="4617720" y="2020824"/>
            <a:ext cx="2377440" cy="237744"/>
          </a:xfrm>
          <a:prstGeom prst="rect">
            <a:avLst/>
          </a:prstGeom>
          <a:noFill/>
          <a:ln/>
        </p:spPr>
        <p:txBody>
          <a:bodyPr wrap="square" lIns="0" tIns="0" rIns="0" bIns="0" rtlCol="0" anchor="ctr"/>
          <a:lstStyle/>
          <a:p>
            <a:pPr indent="0" marL="0">
              <a:buNone/>
            </a:pPr>
            <a:r>
              <a:rPr lang="en-US" sz="1100" b="1" dirty="0">
                <a:solidFill>
                  <a:srgbClr val="4F8A3C"/>
                </a:solidFill>
              </a:rPr>
              <a:t>A · Faithful</a:t>
            </a:r>
            <a:endParaRPr lang="en-US" sz="1100" dirty="0"/>
          </a:p>
        </p:txBody>
      </p:sp>
      <p:sp>
        <p:nvSpPr>
          <p:cNvPr id="9" name="Text 7"/>
          <p:cNvSpPr txBox="1"/>
          <p:nvPr/>
        </p:nvSpPr>
        <p:spPr>
          <a:xfrm>
            <a:off x="4617720" y="2258568"/>
            <a:ext cx="2514600" cy="502920"/>
          </a:xfrm>
          <a:prstGeom prst="rect">
            <a:avLst/>
          </a:prstGeom>
          <a:noFill/>
          <a:ln/>
        </p:spPr>
        <p:txBody>
          <a:bodyPr wrap="square" lIns="0" tIns="0" rIns="0" bIns="0" rtlCol="0" anchor="t"/>
          <a:lstStyle/>
          <a:p>
            <a:pPr indent="0" marL="0">
              <a:buNone/>
            </a:pPr>
            <a:r>
              <a:rPr lang="en-US" sz="1100" dirty="0">
                <a:solidFill>
                  <a:schemeClr val="tx1"/>
                </a:solidFill>
              </a:rPr>
              <a:t>“The policy does not pay for damage … caused by normal wear and tear …”</a:t>
            </a:r>
            <a:endParaRPr lang="en-US" sz="1100" dirty="0"/>
          </a:p>
        </p:txBody>
      </p:sp>
      <p:sp>
        <p:nvSpPr>
          <p:cNvPr id="10" name="Text 8"/>
          <p:cNvSpPr txBox="1"/>
          <p:nvPr/>
        </p:nvSpPr>
        <p:spPr>
          <a:xfrm>
            <a:off x="7178040" y="2057400"/>
            <a:ext cx="1234440" cy="329184"/>
          </a:xfrm>
          <a:prstGeom prst="rect">
            <a:avLst/>
          </a:prstGeom>
          <a:noFill/>
          <a:ln/>
        </p:spPr>
        <p:txBody>
          <a:bodyPr wrap="square" lIns="0" tIns="0" rIns="0" bIns="0" rtlCol="0" anchor="ctr"/>
          <a:lstStyle/>
          <a:p>
            <a:pPr algn="r" indent="0" marL="0">
              <a:buNone/>
            </a:pPr>
            <a:r>
              <a:rPr lang="en-US" sz="1000" dirty="0">
                <a:solidFill>
                  <a:srgbClr val="8E9AAF"/>
                </a:solidFill>
              </a:rPr>
              <a:t>cosine </a:t>
            </a:r>
            <a:pPr algn="r" indent="0" marL="0">
              <a:buNone/>
            </a:pPr>
            <a:r>
              <a:rPr lang="en-US" sz="1800" b="1" dirty="0">
                <a:solidFill>
                  <a:srgbClr val="2E4057"/>
                </a:solidFill>
              </a:rPr>
              <a:t>0.85</a:t>
            </a:r>
            <a:endParaRPr lang="en-US" sz="1000" dirty="0"/>
          </a:p>
        </p:txBody>
      </p:sp>
      <p:sp>
        <p:nvSpPr>
          <p:cNvPr id="11" name="Text 9"/>
          <p:cNvSpPr txBox="1"/>
          <p:nvPr/>
        </p:nvSpPr>
        <p:spPr>
          <a:xfrm>
            <a:off x="7178040" y="2423160"/>
            <a:ext cx="1234440" cy="329184"/>
          </a:xfrm>
          <a:prstGeom prst="rect">
            <a:avLst/>
          </a:prstGeom>
          <a:noFill/>
          <a:ln/>
        </p:spPr>
        <p:txBody>
          <a:bodyPr wrap="square" lIns="0" tIns="0" rIns="0" bIns="0" rtlCol="0" anchor="ctr"/>
          <a:lstStyle/>
          <a:p>
            <a:pPr algn="r" indent="0" marL="0">
              <a:buNone/>
            </a:pPr>
            <a:r>
              <a:rPr lang="en-US" sz="1000" dirty="0">
                <a:solidFill>
                  <a:srgbClr val="8E9AAF"/>
                </a:solidFill>
              </a:rPr>
              <a:t>LMP label </a:t>
            </a:r>
            <a:pPr algn="r" indent="0" marL="0">
              <a:buNone/>
            </a:pPr>
            <a:r>
              <a:rPr lang="en-US" sz="1800" b="1" dirty="0">
                <a:solidFill>
                  <a:srgbClr val="4F8A3C"/>
                </a:solidFill>
              </a:rPr>
              <a:t>10</a:t>
            </a:r>
            <a:endParaRPr lang="en-US" sz="1000" dirty="0"/>
          </a:p>
        </p:txBody>
      </p:sp>
      <p:sp>
        <p:nvSpPr>
          <p:cNvPr id="12" name="simp-1"/>
          <p:cNvSpPr/>
          <p:nvPr/>
        </p:nvSpPr>
        <p:spPr>
          <a:xfrm>
            <a:off x="4480560" y="2926080"/>
            <a:ext cx="4023360" cy="841248"/>
          </a:xfrm>
          <a:prstGeom prst="roundRect">
            <a:avLst>
              <a:gd name="adj" fmla="val 8696"/>
            </a:avLst>
          </a:prstGeom>
          <a:solidFill>
            <a:srgbClr val="FFFFFF"/>
          </a:solidFill>
          <a:ln/>
        </p:spPr>
      </p:sp>
      <p:sp>
        <p:nvSpPr>
          <p:cNvPr id="13" name="Text 11"/>
          <p:cNvSpPr txBox="1"/>
          <p:nvPr/>
        </p:nvSpPr>
        <p:spPr>
          <a:xfrm>
            <a:off x="4617720" y="2980944"/>
            <a:ext cx="2377440" cy="237744"/>
          </a:xfrm>
          <a:prstGeom prst="rect">
            <a:avLst/>
          </a:prstGeom>
          <a:noFill/>
          <a:ln/>
        </p:spPr>
        <p:txBody>
          <a:bodyPr wrap="square" lIns="0" tIns="0" rIns="0" bIns="0" rtlCol="0" anchor="ctr"/>
          <a:lstStyle/>
          <a:p>
            <a:pPr indent="0" marL="0">
              <a:buNone/>
            </a:pPr>
            <a:r>
              <a:rPr lang="en-US" sz="1100" b="1" dirty="0">
                <a:solidFill>
                  <a:srgbClr val="B5452F"/>
                </a:solidFill>
              </a:rPr>
              <a:t>B · Contradiction</a:t>
            </a:r>
            <a:endParaRPr lang="en-US" sz="1100" dirty="0"/>
          </a:p>
        </p:txBody>
      </p:sp>
      <p:sp>
        <p:nvSpPr>
          <p:cNvPr id="14" name="Text 12"/>
          <p:cNvSpPr txBox="1"/>
          <p:nvPr/>
        </p:nvSpPr>
        <p:spPr>
          <a:xfrm>
            <a:off x="4617720" y="3218688"/>
            <a:ext cx="2514600" cy="502920"/>
          </a:xfrm>
          <a:prstGeom prst="rect">
            <a:avLst/>
          </a:prstGeom>
          <a:noFill/>
          <a:ln/>
        </p:spPr>
        <p:txBody>
          <a:bodyPr wrap="square" lIns="0" tIns="0" rIns="0" bIns="0" rtlCol="0" anchor="t"/>
          <a:lstStyle/>
          <a:p>
            <a:pPr indent="0" marL="0">
              <a:buNone/>
            </a:pPr>
            <a:r>
              <a:rPr lang="en-US" sz="1100" dirty="0">
                <a:solidFill>
                  <a:schemeClr val="tx1"/>
                </a:solidFill>
              </a:rPr>
              <a:t>“The policy pays for damage … caused by normal wear and tear …”</a:t>
            </a:r>
            <a:endParaRPr lang="en-US" sz="1100" dirty="0"/>
          </a:p>
        </p:txBody>
      </p:sp>
      <p:sp>
        <p:nvSpPr>
          <p:cNvPr id="15" name="Text 13"/>
          <p:cNvSpPr txBox="1"/>
          <p:nvPr/>
        </p:nvSpPr>
        <p:spPr>
          <a:xfrm>
            <a:off x="7178040" y="3017520"/>
            <a:ext cx="1234440" cy="329184"/>
          </a:xfrm>
          <a:prstGeom prst="rect">
            <a:avLst/>
          </a:prstGeom>
          <a:noFill/>
          <a:ln/>
        </p:spPr>
        <p:txBody>
          <a:bodyPr wrap="square" lIns="0" tIns="0" rIns="0" bIns="0" rtlCol="0" anchor="ctr"/>
          <a:lstStyle/>
          <a:p>
            <a:pPr algn="r" indent="0" marL="0">
              <a:buNone/>
            </a:pPr>
            <a:r>
              <a:rPr lang="en-US" sz="1000" dirty="0">
                <a:solidFill>
                  <a:srgbClr val="8E9AAF"/>
                </a:solidFill>
              </a:rPr>
              <a:t>cosine </a:t>
            </a:r>
            <a:pPr algn="r" indent="0" marL="0">
              <a:buNone/>
            </a:pPr>
            <a:r>
              <a:rPr lang="en-US" sz="1800" b="1" dirty="0">
                <a:solidFill>
                  <a:srgbClr val="2E4057"/>
                </a:solidFill>
              </a:rPr>
              <a:t>0.84</a:t>
            </a:r>
            <a:endParaRPr lang="en-US" sz="1000" dirty="0"/>
          </a:p>
        </p:txBody>
      </p:sp>
      <p:sp>
        <p:nvSpPr>
          <p:cNvPr id="16" name="Text 14"/>
          <p:cNvSpPr txBox="1"/>
          <p:nvPr/>
        </p:nvSpPr>
        <p:spPr>
          <a:xfrm>
            <a:off x="7178040" y="3383280"/>
            <a:ext cx="1234440" cy="329184"/>
          </a:xfrm>
          <a:prstGeom prst="rect">
            <a:avLst/>
          </a:prstGeom>
          <a:noFill/>
          <a:ln/>
        </p:spPr>
        <p:txBody>
          <a:bodyPr wrap="square" lIns="0" tIns="0" rIns="0" bIns="0" rtlCol="0" anchor="ctr"/>
          <a:lstStyle/>
          <a:p>
            <a:pPr algn="r" indent="0" marL="0">
              <a:buNone/>
            </a:pPr>
            <a:r>
              <a:rPr lang="en-US" sz="1000" dirty="0">
                <a:solidFill>
                  <a:srgbClr val="8E9AAF"/>
                </a:solidFill>
              </a:rPr>
              <a:t>LMP label </a:t>
            </a:r>
            <a:pPr algn="r" indent="0" marL="0">
              <a:buNone/>
            </a:pPr>
            <a:r>
              <a:rPr lang="en-US" sz="1800" b="1" dirty="0">
                <a:solidFill>
                  <a:srgbClr val="B5452F"/>
                </a:solidFill>
              </a:rPr>
              <a:t>1</a:t>
            </a:r>
            <a:endParaRPr lang="en-US" sz="1000" dirty="0"/>
          </a:p>
        </p:txBody>
      </p:sp>
      <p:sp>
        <p:nvSpPr>
          <p:cNvPr id="17" name="Text 15"/>
          <p:cNvSpPr txBox="1"/>
          <p:nvPr/>
        </p:nvSpPr>
        <p:spPr>
          <a:xfrm>
            <a:off x="4480560" y="3858768"/>
            <a:ext cx="4023360" cy="640080"/>
          </a:xfrm>
          <a:prstGeom prst="rect">
            <a:avLst/>
          </a:prstGeom>
          <a:noFill/>
          <a:ln/>
        </p:spPr>
        <p:txBody>
          <a:bodyPr wrap="square" lIns="0" tIns="0" rIns="0" bIns="0" rtlCol="0" anchor="t"/>
          <a:lstStyle/>
          <a:p>
            <a:pPr indent="0" marL="0">
              <a:buNone/>
            </a:pPr>
            <a:r>
              <a:rPr lang="en-US" sz="1100" b="1" dirty="0">
                <a:solidFill>
                  <a:schemeClr val="accent3"/>
                </a:solidFill>
              </a:rPr>
              <a:t>Sentence-embedding cosine separates them by 0.01; the legal meaning is opposite. Same pattern in Hindi (0.92 vs 0.92).</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Problem analysis and task formulation</a:t>
            </a:r>
            <a:endParaRPr lang="en-US" sz="2800" dirty="0"/>
          </a:p>
        </p:txBody>
      </p:sp>
      <p:sp>
        <p:nvSpPr>
          <p:cNvPr id="3" name="Text 1"/>
          <p:cNvSpPr txBox="1"/>
          <p:nvPr/>
        </p:nvSpPr>
        <p:spPr>
          <a:xfrm>
            <a:off x="457200" y="914400"/>
            <a:ext cx="4754880" cy="274320"/>
          </a:xfrm>
          <a:prstGeom prst="rect">
            <a:avLst/>
          </a:prstGeom>
          <a:noFill/>
          <a:ln/>
        </p:spPr>
        <p:txBody>
          <a:bodyPr wrap="square" lIns="0" tIns="0" rIns="0" bIns="0" rtlCol="0" anchor="ctr"/>
          <a:lstStyle/>
          <a:p>
            <a:pPr indent="0" marL="0">
              <a:buNone/>
            </a:pPr>
            <a:r>
              <a:rPr lang="en-US" sz="1300" b="1" dirty="0">
                <a:solidFill>
                  <a:schemeClr val="tx1"/>
                </a:solidFill>
              </a:rPr>
              <a:t>Error taxonomy: small edits, large legal effect</a:t>
            </a:r>
            <a:endParaRPr lang="en-US" sz="1300" dirty="0"/>
          </a:p>
        </p:txBody>
      </p:sp>
      <p:sp>
        <p:nvSpPr>
          <p:cNvPr id="4" name="cat-card-0"/>
          <p:cNvSpPr/>
          <p:nvPr/>
        </p:nvSpPr>
        <p:spPr>
          <a:xfrm>
            <a:off x="457200" y="1261872"/>
            <a:ext cx="1115568" cy="1024128"/>
          </a:xfrm>
          <a:prstGeom prst="roundRect">
            <a:avLst>
              <a:gd name="adj" fmla="val 7143"/>
            </a:avLst>
          </a:prstGeom>
          <a:solidFill>
            <a:schemeClr val="bg2"/>
          </a:solidFill>
          <a:ln/>
        </p:spPr>
      </p:sp>
      <p:sp>
        <p:nvSpPr>
          <p:cNvPr id="5" name="cat-0-circle"/>
          <p:cNvSpPr/>
          <p:nvPr/>
        </p:nvSpPr>
        <p:spPr>
          <a:xfrm>
            <a:off x="548640" y="1353312"/>
            <a:ext cx="347472" cy="347472"/>
          </a:xfrm>
          <a:prstGeom prst="ellipse">
            <a:avLst/>
          </a:prstGeom>
          <a:solidFill>
            <a:srgbClr val="B5452F"/>
          </a:solidFill>
          <a:ln/>
        </p:spPr>
      </p:sp>
      <p:pic>
        <p:nvPicPr>
          <p:cNvPr id="6" name="cat-0-icon" descr="preencoded.png">    </p:cNvPr>
          <p:cNvPicPr>
            <a:picLocks noChangeAspect="1"/>
          </p:cNvPicPr>
          <p:nvPr/>
        </p:nvPicPr>
        <p:blipFill>
          <a:blip r:embed="rId1"/>
          <a:stretch>
            <a:fillRect/>
          </a:stretch>
        </p:blipFill>
        <p:spPr>
          <a:xfrm>
            <a:off x="635508" y="1440180"/>
            <a:ext cx="173736" cy="173736"/>
          </a:xfrm>
          <a:prstGeom prst="rect">
            <a:avLst/>
          </a:prstGeom>
        </p:spPr>
      </p:pic>
      <p:sp>
        <p:nvSpPr>
          <p:cNvPr id="7" name="Text 4"/>
          <p:cNvSpPr txBox="1"/>
          <p:nvPr/>
        </p:nvSpPr>
        <p:spPr>
          <a:xfrm>
            <a:off x="548640" y="1719072"/>
            <a:ext cx="960120" cy="237744"/>
          </a:xfrm>
          <a:prstGeom prst="rect">
            <a:avLst/>
          </a:prstGeom>
          <a:noFill/>
          <a:ln/>
        </p:spPr>
        <p:txBody>
          <a:bodyPr wrap="square" lIns="0" tIns="0" rIns="0" bIns="0" rtlCol="0" anchor="ctr"/>
          <a:lstStyle/>
          <a:p>
            <a:pPr indent="0" marL="0">
              <a:buNone/>
            </a:pPr>
            <a:r>
              <a:rPr lang="en-US" sz="1100" b="1" dirty="0">
                <a:solidFill>
                  <a:schemeClr val="tx1"/>
                </a:solidFill>
              </a:rPr>
              <a:t>Modality</a:t>
            </a:r>
            <a:endParaRPr lang="en-US" sz="1100" dirty="0"/>
          </a:p>
        </p:txBody>
      </p:sp>
      <p:sp>
        <p:nvSpPr>
          <p:cNvPr id="8" name="Text 5"/>
          <p:cNvSpPr txBox="1"/>
          <p:nvPr/>
        </p:nvSpPr>
        <p:spPr>
          <a:xfrm>
            <a:off x="548640" y="1956816"/>
            <a:ext cx="987552" cy="237744"/>
          </a:xfrm>
          <a:prstGeom prst="rect">
            <a:avLst/>
          </a:prstGeom>
          <a:noFill/>
          <a:ln/>
        </p:spPr>
        <p:txBody>
          <a:bodyPr wrap="square" lIns="0" tIns="0" rIns="0" bIns="0" rtlCol="0" anchor="ctr"/>
          <a:lstStyle/>
          <a:p>
            <a:pPr indent="0" marL="0">
              <a:buNone/>
            </a:pPr>
            <a:r>
              <a:rPr lang="en-US" sz="1000" i="1" dirty="0">
                <a:solidFill>
                  <a:schemeClr val="tx2"/>
                </a:solidFill>
              </a:rPr>
              <a:t>must → may</a:t>
            </a:r>
            <a:endParaRPr lang="en-US" sz="1000" dirty="0"/>
          </a:p>
        </p:txBody>
      </p:sp>
      <p:sp>
        <p:nvSpPr>
          <p:cNvPr id="9" name="cat-card-1"/>
          <p:cNvSpPr/>
          <p:nvPr/>
        </p:nvSpPr>
        <p:spPr>
          <a:xfrm>
            <a:off x="1664208" y="1261872"/>
            <a:ext cx="1115568" cy="1024128"/>
          </a:xfrm>
          <a:prstGeom prst="roundRect">
            <a:avLst>
              <a:gd name="adj" fmla="val 7143"/>
            </a:avLst>
          </a:prstGeom>
          <a:solidFill>
            <a:schemeClr val="bg2"/>
          </a:solidFill>
          <a:ln/>
        </p:spPr>
      </p:sp>
      <p:sp>
        <p:nvSpPr>
          <p:cNvPr id="10" name="cat-1-circle"/>
          <p:cNvSpPr/>
          <p:nvPr/>
        </p:nvSpPr>
        <p:spPr>
          <a:xfrm>
            <a:off x="1755648" y="1353312"/>
            <a:ext cx="347472" cy="347472"/>
          </a:xfrm>
          <a:prstGeom prst="ellipse">
            <a:avLst/>
          </a:prstGeom>
          <a:solidFill>
            <a:srgbClr val="B5452F"/>
          </a:solidFill>
          <a:ln/>
        </p:spPr>
      </p:sp>
      <p:pic>
        <p:nvPicPr>
          <p:cNvPr id="11" name="cat-1-icon" descr="preencoded.png">    </p:cNvPr>
          <p:cNvPicPr>
            <a:picLocks noChangeAspect="1"/>
          </p:cNvPicPr>
          <p:nvPr/>
        </p:nvPicPr>
        <p:blipFill>
          <a:blip r:embed="rId2"/>
          <a:stretch>
            <a:fillRect/>
          </a:stretch>
        </p:blipFill>
        <p:spPr>
          <a:xfrm>
            <a:off x="1842516" y="1440180"/>
            <a:ext cx="173736" cy="173736"/>
          </a:xfrm>
          <a:prstGeom prst="rect">
            <a:avLst/>
          </a:prstGeom>
        </p:spPr>
      </p:pic>
      <p:sp>
        <p:nvSpPr>
          <p:cNvPr id="12" name="Text 8"/>
          <p:cNvSpPr txBox="1"/>
          <p:nvPr/>
        </p:nvSpPr>
        <p:spPr>
          <a:xfrm>
            <a:off x="1755648" y="1719072"/>
            <a:ext cx="960120" cy="237744"/>
          </a:xfrm>
          <a:prstGeom prst="rect">
            <a:avLst/>
          </a:prstGeom>
          <a:noFill/>
          <a:ln/>
        </p:spPr>
        <p:txBody>
          <a:bodyPr wrap="square" lIns="0" tIns="0" rIns="0" bIns="0" rtlCol="0" anchor="ctr"/>
          <a:lstStyle/>
          <a:p>
            <a:pPr indent="0" marL="0">
              <a:buNone/>
            </a:pPr>
            <a:r>
              <a:rPr lang="en-US" sz="1100" b="1" dirty="0">
                <a:solidFill>
                  <a:schemeClr val="tx1"/>
                </a:solidFill>
              </a:rPr>
              <a:t>Negation</a:t>
            </a:r>
            <a:endParaRPr lang="en-US" sz="1100" dirty="0"/>
          </a:p>
        </p:txBody>
      </p:sp>
      <p:sp>
        <p:nvSpPr>
          <p:cNvPr id="13" name="Text 9"/>
          <p:cNvSpPr txBox="1"/>
          <p:nvPr/>
        </p:nvSpPr>
        <p:spPr>
          <a:xfrm>
            <a:off x="1755648" y="1956816"/>
            <a:ext cx="987552" cy="237744"/>
          </a:xfrm>
          <a:prstGeom prst="rect">
            <a:avLst/>
          </a:prstGeom>
          <a:noFill/>
          <a:ln/>
        </p:spPr>
        <p:txBody>
          <a:bodyPr wrap="square" lIns="0" tIns="0" rIns="0" bIns="0" rtlCol="0" anchor="ctr"/>
          <a:lstStyle/>
          <a:p>
            <a:pPr indent="0" marL="0">
              <a:buNone/>
            </a:pPr>
            <a:r>
              <a:rPr lang="en-US" sz="1000" i="1" dirty="0">
                <a:solidFill>
                  <a:schemeClr val="tx2"/>
                </a:solidFill>
              </a:rPr>
              <a:t>not cover → cover</a:t>
            </a:r>
            <a:endParaRPr lang="en-US" sz="1000" dirty="0"/>
          </a:p>
        </p:txBody>
      </p:sp>
      <p:sp>
        <p:nvSpPr>
          <p:cNvPr id="14" name="cat-card-2"/>
          <p:cNvSpPr/>
          <p:nvPr/>
        </p:nvSpPr>
        <p:spPr>
          <a:xfrm>
            <a:off x="2871216" y="1261872"/>
            <a:ext cx="1115568" cy="1024128"/>
          </a:xfrm>
          <a:prstGeom prst="roundRect">
            <a:avLst>
              <a:gd name="adj" fmla="val 7143"/>
            </a:avLst>
          </a:prstGeom>
          <a:solidFill>
            <a:schemeClr val="bg2"/>
          </a:solidFill>
          <a:ln/>
        </p:spPr>
      </p:sp>
      <p:sp>
        <p:nvSpPr>
          <p:cNvPr id="15" name="cat-2-circle"/>
          <p:cNvSpPr/>
          <p:nvPr/>
        </p:nvSpPr>
        <p:spPr>
          <a:xfrm>
            <a:off x="2962656" y="1353312"/>
            <a:ext cx="347472" cy="347472"/>
          </a:xfrm>
          <a:prstGeom prst="ellipse">
            <a:avLst/>
          </a:prstGeom>
          <a:solidFill>
            <a:srgbClr val="2A7F7A"/>
          </a:solidFill>
          <a:ln/>
        </p:spPr>
      </p:sp>
      <p:pic>
        <p:nvPicPr>
          <p:cNvPr id="16" name="cat-2-icon" descr="preencoded.png">    </p:cNvPr>
          <p:cNvPicPr>
            <a:picLocks noChangeAspect="1"/>
          </p:cNvPicPr>
          <p:nvPr/>
        </p:nvPicPr>
        <p:blipFill>
          <a:blip r:embed="rId3"/>
          <a:stretch>
            <a:fillRect/>
          </a:stretch>
        </p:blipFill>
        <p:spPr>
          <a:xfrm>
            <a:off x="3049524" y="1440180"/>
            <a:ext cx="173736" cy="173736"/>
          </a:xfrm>
          <a:prstGeom prst="rect">
            <a:avLst/>
          </a:prstGeom>
        </p:spPr>
      </p:pic>
      <p:sp>
        <p:nvSpPr>
          <p:cNvPr id="17" name="Text 12"/>
          <p:cNvSpPr txBox="1"/>
          <p:nvPr/>
        </p:nvSpPr>
        <p:spPr>
          <a:xfrm>
            <a:off x="2962656" y="1719072"/>
            <a:ext cx="960120" cy="237744"/>
          </a:xfrm>
          <a:prstGeom prst="rect">
            <a:avLst/>
          </a:prstGeom>
          <a:noFill/>
          <a:ln/>
        </p:spPr>
        <p:txBody>
          <a:bodyPr wrap="square" lIns="0" tIns="0" rIns="0" bIns="0" rtlCol="0" anchor="ctr"/>
          <a:lstStyle/>
          <a:p>
            <a:pPr indent="0" marL="0">
              <a:buNone/>
            </a:pPr>
            <a:r>
              <a:rPr lang="en-US" sz="1100" b="1" dirty="0">
                <a:solidFill>
                  <a:schemeClr val="tx1"/>
                </a:solidFill>
              </a:rPr>
              <a:t>Condition</a:t>
            </a:r>
            <a:endParaRPr lang="en-US" sz="1100" dirty="0"/>
          </a:p>
        </p:txBody>
      </p:sp>
      <p:sp>
        <p:nvSpPr>
          <p:cNvPr id="18" name="Text 13"/>
          <p:cNvSpPr txBox="1"/>
          <p:nvPr/>
        </p:nvSpPr>
        <p:spPr>
          <a:xfrm>
            <a:off x="2962656" y="1956816"/>
            <a:ext cx="987552" cy="237744"/>
          </a:xfrm>
          <a:prstGeom prst="rect">
            <a:avLst/>
          </a:prstGeom>
          <a:noFill/>
          <a:ln/>
        </p:spPr>
        <p:txBody>
          <a:bodyPr wrap="square" lIns="0" tIns="0" rIns="0" bIns="0" rtlCol="0" anchor="ctr"/>
          <a:lstStyle/>
          <a:p>
            <a:pPr indent="0" marL="0">
              <a:buNone/>
            </a:pPr>
            <a:r>
              <a:rPr lang="en-US" sz="1000" i="1" dirty="0">
                <a:solidFill>
                  <a:schemeClr val="tx2"/>
                </a:solidFill>
              </a:rPr>
              <a:t>“if licensed” cut</a:t>
            </a:r>
            <a:endParaRPr lang="en-US" sz="1000" dirty="0"/>
          </a:p>
        </p:txBody>
      </p:sp>
      <p:sp>
        <p:nvSpPr>
          <p:cNvPr id="19" name="cat-card-3"/>
          <p:cNvSpPr/>
          <p:nvPr/>
        </p:nvSpPr>
        <p:spPr>
          <a:xfrm>
            <a:off x="4078224" y="1261872"/>
            <a:ext cx="1115568" cy="1024128"/>
          </a:xfrm>
          <a:prstGeom prst="roundRect">
            <a:avLst>
              <a:gd name="adj" fmla="val 7143"/>
            </a:avLst>
          </a:prstGeom>
          <a:solidFill>
            <a:schemeClr val="bg2"/>
          </a:solidFill>
          <a:ln/>
        </p:spPr>
      </p:sp>
      <p:sp>
        <p:nvSpPr>
          <p:cNvPr id="20" name="cat-3-circle"/>
          <p:cNvSpPr/>
          <p:nvPr/>
        </p:nvSpPr>
        <p:spPr>
          <a:xfrm>
            <a:off x="4169664" y="1353312"/>
            <a:ext cx="347472" cy="347472"/>
          </a:xfrm>
          <a:prstGeom prst="ellipse">
            <a:avLst/>
          </a:prstGeom>
          <a:solidFill>
            <a:srgbClr val="2A7F7A"/>
          </a:solidFill>
          <a:ln/>
        </p:spPr>
      </p:sp>
      <p:pic>
        <p:nvPicPr>
          <p:cNvPr id="21" name="cat-3-icon" descr="preencoded.png">    </p:cNvPr>
          <p:cNvPicPr>
            <a:picLocks noChangeAspect="1"/>
          </p:cNvPicPr>
          <p:nvPr/>
        </p:nvPicPr>
        <p:blipFill>
          <a:blip r:embed="rId4"/>
          <a:stretch>
            <a:fillRect/>
          </a:stretch>
        </p:blipFill>
        <p:spPr>
          <a:xfrm>
            <a:off x="4256532" y="1440180"/>
            <a:ext cx="173736" cy="173736"/>
          </a:xfrm>
          <a:prstGeom prst="rect">
            <a:avLst/>
          </a:prstGeom>
        </p:spPr>
      </p:pic>
      <p:sp>
        <p:nvSpPr>
          <p:cNvPr id="22" name="Text 16"/>
          <p:cNvSpPr txBox="1"/>
          <p:nvPr/>
        </p:nvSpPr>
        <p:spPr>
          <a:xfrm>
            <a:off x="4169664" y="1719072"/>
            <a:ext cx="960120" cy="237744"/>
          </a:xfrm>
          <a:prstGeom prst="rect">
            <a:avLst/>
          </a:prstGeom>
          <a:noFill/>
          <a:ln/>
        </p:spPr>
        <p:txBody>
          <a:bodyPr wrap="square" lIns="0" tIns="0" rIns="0" bIns="0" rtlCol="0" anchor="ctr"/>
          <a:lstStyle/>
          <a:p>
            <a:pPr indent="0" marL="0">
              <a:buNone/>
            </a:pPr>
            <a:r>
              <a:rPr lang="en-US" sz="1100" b="1" dirty="0">
                <a:solidFill>
                  <a:schemeClr val="tx1"/>
                </a:solidFill>
              </a:rPr>
              <a:t>Exception</a:t>
            </a:r>
            <a:endParaRPr lang="en-US" sz="1100" dirty="0"/>
          </a:p>
        </p:txBody>
      </p:sp>
      <p:sp>
        <p:nvSpPr>
          <p:cNvPr id="23" name="Text 17"/>
          <p:cNvSpPr txBox="1"/>
          <p:nvPr/>
        </p:nvSpPr>
        <p:spPr>
          <a:xfrm>
            <a:off x="4169664" y="1956816"/>
            <a:ext cx="987552" cy="237744"/>
          </a:xfrm>
          <a:prstGeom prst="rect">
            <a:avLst/>
          </a:prstGeom>
          <a:noFill/>
          <a:ln/>
        </p:spPr>
        <p:txBody>
          <a:bodyPr wrap="square" lIns="0" tIns="0" rIns="0" bIns="0" rtlCol="0" anchor="ctr"/>
          <a:lstStyle/>
          <a:p>
            <a:pPr indent="0" marL="0">
              <a:buNone/>
            </a:pPr>
            <a:r>
              <a:rPr lang="en-US" sz="1000" i="1" dirty="0">
                <a:solidFill>
                  <a:schemeClr val="tx2"/>
                </a:solidFill>
              </a:rPr>
              <a:t>“except …” cut</a:t>
            </a:r>
            <a:endParaRPr lang="en-US" sz="1000" dirty="0"/>
          </a:p>
        </p:txBody>
      </p:sp>
      <p:sp>
        <p:nvSpPr>
          <p:cNvPr id="24" name="cat-card-4"/>
          <p:cNvSpPr/>
          <p:nvPr/>
        </p:nvSpPr>
        <p:spPr>
          <a:xfrm>
            <a:off x="457200" y="2377440"/>
            <a:ext cx="1115568" cy="1024128"/>
          </a:xfrm>
          <a:prstGeom prst="roundRect">
            <a:avLst>
              <a:gd name="adj" fmla="val 7143"/>
            </a:avLst>
          </a:prstGeom>
          <a:solidFill>
            <a:schemeClr val="bg2"/>
          </a:solidFill>
          <a:ln/>
        </p:spPr>
      </p:sp>
      <p:sp>
        <p:nvSpPr>
          <p:cNvPr id="25" name="cat-4-circle"/>
          <p:cNvSpPr/>
          <p:nvPr/>
        </p:nvSpPr>
        <p:spPr>
          <a:xfrm>
            <a:off x="548640" y="2468880"/>
            <a:ext cx="347472" cy="347472"/>
          </a:xfrm>
          <a:prstGeom prst="ellipse">
            <a:avLst/>
          </a:prstGeom>
          <a:solidFill>
            <a:srgbClr val="2A7F7A"/>
          </a:solidFill>
          <a:ln/>
        </p:spPr>
      </p:sp>
      <p:pic>
        <p:nvPicPr>
          <p:cNvPr id="26" name="cat-4-icon" descr="preencoded.png">    </p:cNvPr>
          <p:cNvPicPr>
            <a:picLocks noChangeAspect="1"/>
          </p:cNvPicPr>
          <p:nvPr/>
        </p:nvPicPr>
        <p:blipFill>
          <a:blip r:embed="rId5"/>
          <a:stretch>
            <a:fillRect/>
          </a:stretch>
        </p:blipFill>
        <p:spPr>
          <a:xfrm>
            <a:off x="635508" y="2555748"/>
            <a:ext cx="173736" cy="173736"/>
          </a:xfrm>
          <a:prstGeom prst="rect">
            <a:avLst/>
          </a:prstGeom>
        </p:spPr>
      </p:pic>
      <p:sp>
        <p:nvSpPr>
          <p:cNvPr id="27" name="Text 20"/>
          <p:cNvSpPr txBox="1"/>
          <p:nvPr/>
        </p:nvSpPr>
        <p:spPr>
          <a:xfrm>
            <a:off x="548640" y="2834640"/>
            <a:ext cx="960120" cy="237744"/>
          </a:xfrm>
          <a:prstGeom prst="rect">
            <a:avLst/>
          </a:prstGeom>
          <a:noFill/>
          <a:ln/>
        </p:spPr>
        <p:txBody>
          <a:bodyPr wrap="square" lIns="0" tIns="0" rIns="0" bIns="0" rtlCol="0" anchor="ctr"/>
          <a:lstStyle/>
          <a:p>
            <a:pPr indent="0" marL="0">
              <a:buNone/>
            </a:pPr>
            <a:r>
              <a:rPr lang="en-US" sz="1100" b="1" dirty="0">
                <a:solidFill>
                  <a:schemeClr val="tx1"/>
                </a:solidFill>
              </a:rPr>
              <a:t>Scope</a:t>
            </a:r>
            <a:endParaRPr lang="en-US" sz="1100" dirty="0"/>
          </a:p>
        </p:txBody>
      </p:sp>
      <p:sp>
        <p:nvSpPr>
          <p:cNvPr id="28" name="Text 21"/>
          <p:cNvSpPr txBox="1"/>
          <p:nvPr/>
        </p:nvSpPr>
        <p:spPr>
          <a:xfrm>
            <a:off x="548640" y="3072384"/>
            <a:ext cx="987552" cy="237744"/>
          </a:xfrm>
          <a:prstGeom prst="rect">
            <a:avLst/>
          </a:prstGeom>
          <a:noFill/>
          <a:ln/>
        </p:spPr>
        <p:txBody>
          <a:bodyPr wrap="square" lIns="0" tIns="0" rIns="0" bIns="0" rtlCol="0" anchor="ctr"/>
          <a:lstStyle/>
          <a:p>
            <a:pPr indent="0" marL="0">
              <a:buNone/>
            </a:pPr>
            <a:r>
              <a:rPr lang="en-US" sz="1000" i="1" dirty="0">
                <a:solidFill>
                  <a:schemeClr val="tx2"/>
                </a:solidFill>
              </a:rPr>
              <a:t>others → anyone</a:t>
            </a:r>
            <a:endParaRPr lang="en-US" sz="1000" dirty="0"/>
          </a:p>
        </p:txBody>
      </p:sp>
      <p:sp>
        <p:nvSpPr>
          <p:cNvPr id="29" name="cat-card-5"/>
          <p:cNvSpPr/>
          <p:nvPr/>
        </p:nvSpPr>
        <p:spPr>
          <a:xfrm>
            <a:off x="1664208" y="2377440"/>
            <a:ext cx="1115568" cy="1024128"/>
          </a:xfrm>
          <a:prstGeom prst="roundRect">
            <a:avLst>
              <a:gd name="adj" fmla="val 7143"/>
            </a:avLst>
          </a:prstGeom>
          <a:solidFill>
            <a:schemeClr val="bg2"/>
          </a:solidFill>
          <a:ln/>
        </p:spPr>
      </p:sp>
      <p:sp>
        <p:nvSpPr>
          <p:cNvPr id="30" name="cat-5-circle"/>
          <p:cNvSpPr/>
          <p:nvPr/>
        </p:nvSpPr>
        <p:spPr>
          <a:xfrm>
            <a:off x="1755648" y="2468880"/>
            <a:ext cx="347472" cy="347472"/>
          </a:xfrm>
          <a:prstGeom prst="ellipse">
            <a:avLst/>
          </a:prstGeom>
          <a:solidFill>
            <a:srgbClr val="2A7F7A"/>
          </a:solidFill>
          <a:ln/>
        </p:spPr>
      </p:sp>
      <p:pic>
        <p:nvPicPr>
          <p:cNvPr id="31" name="cat-5-icon" descr="preencoded.png">    </p:cNvPr>
          <p:cNvPicPr>
            <a:picLocks noChangeAspect="1"/>
          </p:cNvPicPr>
          <p:nvPr/>
        </p:nvPicPr>
        <p:blipFill>
          <a:blip r:embed="rId6"/>
          <a:stretch>
            <a:fillRect/>
          </a:stretch>
        </p:blipFill>
        <p:spPr>
          <a:xfrm>
            <a:off x="1842516" y="2555748"/>
            <a:ext cx="173736" cy="173736"/>
          </a:xfrm>
          <a:prstGeom prst="rect">
            <a:avLst/>
          </a:prstGeom>
        </p:spPr>
      </p:pic>
      <p:sp>
        <p:nvSpPr>
          <p:cNvPr id="32" name="Text 24"/>
          <p:cNvSpPr txBox="1"/>
          <p:nvPr/>
        </p:nvSpPr>
        <p:spPr>
          <a:xfrm>
            <a:off x="1755648" y="2834640"/>
            <a:ext cx="960120" cy="237744"/>
          </a:xfrm>
          <a:prstGeom prst="rect">
            <a:avLst/>
          </a:prstGeom>
          <a:noFill/>
          <a:ln/>
        </p:spPr>
        <p:txBody>
          <a:bodyPr wrap="square" lIns="0" tIns="0" rIns="0" bIns="0" rtlCol="0" anchor="ctr"/>
          <a:lstStyle/>
          <a:p>
            <a:pPr indent="0" marL="0">
              <a:buNone/>
            </a:pPr>
            <a:r>
              <a:rPr lang="en-US" sz="1100" b="1" dirty="0">
                <a:solidFill>
                  <a:schemeClr val="tx1"/>
                </a:solidFill>
              </a:rPr>
              <a:t>Number / date</a:t>
            </a:r>
            <a:endParaRPr lang="en-US" sz="1100" dirty="0"/>
          </a:p>
        </p:txBody>
      </p:sp>
      <p:sp>
        <p:nvSpPr>
          <p:cNvPr id="33" name="Text 25"/>
          <p:cNvSpPr txBox="1"/>
          <p:nvPr/>
        </p:nvSpPr>
        <p:spPr>
          <a:xfrm>
            <a:off x="1755648" y="3072384"/>
            <a:ext cx="987552" cy="237744"/>
          </a:xfrm>
          <a:prstGeom prst="rect">
            <a:avLst/>
          </a:prstGeom>
          <a:noFill/>
          <a:ln/>
        </p:spPr>
        <p:txBody>
          <a:bodyPr wrap="square" lIns="0" tIns="0" rIns="0" bIns="0" rtlCol="0" anchor="ctr"/>
          <a:lstStyle/>
          <a:p>
            <a:pPr indent="0" marL="0">
              <a:buNone/>
            </a:pPr>
            <a:r>
              <a:rPr lang="en-US" sz="1000" i="1" dirty="0">
                <a:solidFill>
                  <a:schemeClr val="tx2"/>
                </a:solidFill>
              </a:rPr>
              <a:t>7 days → 30 days</a:t>
            </a:r>
            <a:endParaRPr lang="en-US" sz="1000" dirty="0"/>
          </a:p>
        </p:txBody>
      </p:sp>
      <p:sp>
        <p:nvSpPr>
          <p:cNvPr id="34" name="cat-card-6"/>
          <p:cNvSpPr/>
          <p:nvPr/>
        </p:nvSpPr>
        <p:spPr>
          <a:xfrm>
            <a:off x="2871216" y="2377440"/>
            <a:ext cx="1115568" cy="1024128"/>
          </a:xfrm>
          <a:prstGeom prst="roundRect">
            <a:avLst>
              <a:gd name="adj" fmla="val 7143"/>
            </a:avLst>
          </a:prstGeom>
          <a:solidFill>
            <a:schemeClr val="bg2"/>
          </a:solidFill>
          <a:ln/>
        </p:spPr>
      </p:sp>
      <p:sp>
        <p:nvSpPr>
          <p:cNvPr id="35" name="cat-6-circle"/>
          <p:cNvSpPr/>
          <p:nvPr/>
        </p:nvSpPr>
        <p:spPr>
          <a:xfrm>
            <a:off x="2962656" y="2468880"/>
            <a:ext cx="347472" cy="347472"/>
          </a:xfrm>
          <a:prstGeom prst="ellipse">
            <a:avLst/>
          </a:prstGeom>
          <a:solidFill>
            <a:srgbClr val="2A7F7A"/>
          </a:solidFill>
          <a:ln/>
        </p:spPr>
      </p:sp>
      <p:pic>
        <p:nvPicPr>
          <p:cNvPr id="36" name="cat-6-icon" descr="preencoded.png">    </p:cNvPr>
          <p:cNvPicPr>
            <a:picLocks noChangeAspect="1"/>
          </p:cNvPicPr>
          <p:nvPr/>
        </p:nvPicPr>
        <p:blipFill>
          <a:blip r:embed="rId7"/>
          <a:stretch>
            <a:fillRect/>
          </a:stretch>
        </p:blipFill>
        <p:spPr>
          <a:xfrm>
            <a:off x="3049524" y="2555748"/>
            <a:ext cx="173736" cy="173736"/>
          </a:xfrm>
          <a:prstGeom prst="rect">
            <a:avLst/>
          </a:prstGeom>
        </p:spPr>
      </p:pic>
      <p:sp>
        <p:nvSpPr>
          <p:cNvPr id="37" name="Text 28"/>
          <p:cNvSpPr txBox="1"/>
          <p:nvPr/>
        </p:nvSpPr>
        <p:spPr>
          <a:xfrm>
            <a:off x="2962656" y="2834640"/>
            <a:ext cx="960120" cy="237744"/>
          </a:xfrm>
          <a:prstGeom prst="rect">
            <a:avLst/>
          </a:prstGeom>
          <a:noFill/>
          <a:ln/>
        </p:spPr>
        <p:txBody>
          <a:bodyPr wrap="square" lIns="0" tIns="0" rIns="0" bIns="0" rtlCol="0" anchor="ctr"/>
          <a:lstStyle/>
          <a:p>
            <a:pPr indent="0" marL="0">
              <a:buNone/>
            </a:pPr>
            <a:r>
              <a:rPr lang="en-US" sz="1100" b="1" dirty="0">
                <a:solidFill>
                  <a:schemeClr val="tx1"/>
                </a:solidFill>
              </a:rPr>
              <a:t>Party swap</a:t>
            </a:r>
            <a:endParaRPr lang="en-US" sz="1100" dirty="0"/>
          </a:p>
        </p:txBody>
      </p:sp>
      <p:sp>
        <p:nvSpPr>
          <p:cNvPr id="38" name="Text 29"/>
          <p:cNvSpPr txBox="1"/>
          <p:nvPr/>
        </p:nvSpPr>
        <p:spPr>
          <a:xfrm>
            <a:off x="2962656" y="3072384"/>
            <a:ext cx="987552" cy="237744"/>
          </a:xfrm>
          <a:prstGeom prst="rect">
            <a:avLst/>
          </a:prstGeom>
          <a:noFill/>
          <a:ln/>
        </p:spPr>
        <p:txBody>
          <a:bodyPr wrap="square" lIns="0" tIns="0" rIns="0" bIns="0" rtlCol="0" anchor="ctr"/>
          <a:lstStyle/>
          <a:p>
            <a:pPr indent="0" marL="0">
              <a:buNone/>
            </a:pPr>
            <a:r>
              <a:rPr lang="en-US" sz="1000" i="1" dirty="0">
                <a:solidFill>
                  <a:schemeClr val="tx2"/>
                </a:solidFill>
              </a:rPr>
              <a:t>tenant → landlord</a:t>
            </a:r>
            <a:endParaRPr lang="en-US" sz="1000" dirty="0"/>
          </a:p>
        </p:txBody>
      </p:sp>
      <p:sp>
        <p:nvSpPr>
          <p:cNvPr id="39" name="cat-card-7"/>
          <p:cNvSpPr/>
          <p:nvPr/>
        </p:nvSpPr>
        <p:spPr>
          <a:xfrm>
            <a:off x="4078224" y="2377440"/>
            <a:ext cx="1115568" cy="1024128"/>
          </a:xfrm>
          <a:prstGeom prst="roundRect">
            <a:avLst>
              <a:gd name="adj" fmla="val 7143"/>
            </a:avLst>
          </a:prstGeom>
          <a:solidFill>
            <a:schemeClr val="bg2"/>
          </a:solidFill>
          <a:ln/>
        </p:spPr>
      </p:sp>
      <p:sp>
        <p:nvSpPr>
          <p:cNvPr id="40" name="cat-7-circle"/>
          <p:cNvSpPr/>
          <p:nvPr/>
        </p:nvSpPr>
        <p:spPr>
          <a:xfrm>
            <a:off x="4169664" y="2468880"/>
            <a:ext cx="347472" cy="347472"/>
          </a:xfrm>
          <a:prstGeom prst="ellipse">
            <a:avLst/>
          </a:prstGeom>
          <a:solidFill>
            <a:srgbClr val="2A7F7A"/>
          </a:solidFill>
          <a:ln/>
        </p:spPr>
      </p:sp>
      <p:pic>
        <p:nvPicPr>
          <p:cNvPr id="41" name="cat-7-icon" descr="preencoded.png">    </p:cNvPr>
          <p:cNvPicPr>
            <a:picLocks noChangeAspect="1"/>
          </p:cNvPicPr>
          <p:nvPr/>
        </p:nvPicPr>
        <p:blipFill>
          <a:blip r:embed="rId8"/>
          <a:stretch>
            <a:fillRect/>
          </a:stretch>
        </p:blipFill>
        <p:spPr>
          <a:xfrm>
            <a:off x="4256532" y="2555748"/>
            <a:ext cx="173736" cy="173736"/>
          </a:xfrm>
          <a:prstGeom prst="rect">
            <a:avLst/>
          </a:prstGeom>
        </p:spPr>
      </p:pic>
      <p:sp>
        <p:nvSpPr>
          <p:cNvPr id="42" name="Text 32"/>
          <p:cNvSpPr txBox="1"/>
          <p:nvPr/>
        </p:nvSpPr>
        <p:spPr>
          <a:xfrm>
            <a:off x="4169664" y="2834640"/>
            <a:ext cx="960120" cy="237744"/>
          </a:xfrm>
          <a:prstGeom prst="rect">
            <a:avLst/>
          </a:prstGeom>
          <a:noFill/>
          <a:ln/>
        </p:spPr>
        <p:txBody>
          <a:bodyPr wrap="square" lIns="0" tIns="0" rIns="0" bIns="0" rtlCol="0" anchor="ctr"/>
          <a:lstStyle/>
          <a:p>
            <a:pPr indent="0" marL="0">
              <a:buNone/>
            </a:pPr>
            <a:r>
              <a:rPr lang="en-US" sz="1100" b="1" dirty="0">
                <a:solidFill>
                  <a:schemeClr val="tx1"/>
                </a:solidFill>
              </a:rPr>
              <a:t>Hallucination</a:t>
            </a:r>
            <a:endParaRPr lang="en-US" sz="1100" dirty="0"/>
          </a:p>
        </p:txBody>
      </p:sp>
      <p:sp>
        <p:nvSpPr>
          <p:cNvPr id="43" name="Text 33"/>
          <p:cNvSpPr txBox="1"/>
          <p:nvPr/>
        </p:nvSpPr>
        <p:spPr>
          <a:xfrm>
            <a:off x="4169664" y="3072384"/>
            <a:ext cx="987552" cy="237744"/>
          </a:xfrm>
          <a:prstGeom prst="rect">
            <a:avLst/>
          </a:prstGeom>
          <a:noFill/>
          <a:ln/>
        </p:spPr>
        <p:txBody>
          <a:bodyPr wrap="square" lIns="0" tIns="0" rIns="0" bIns="0" rtlCol="0" anchor="ctr"/>
          <a:lstStyle/>
          <a:p>
            <a:pPr indent="0" marL="0">
              <a:buNone/>
            </a:pPr>
            <a:r>
              <a:rPr lang="en-US" sz="1000" i="1" dirty="0">
                <a:solidFill>
                  <a:schemeClr val="tx2"/>
                </a:solidFill>
              </a:rPr>
              <a:t>adds a penalty</a:t>
            </a:r>
            <a:endParaRPr lang="en-US" sz="1000" dirty="0"/>
          </a:p>
        </p:txBody>
      </p:sp>
      <p:sp>
        <p:nvSpPr>
          <p:cNvPr id="44" name="Text 34"/>
          <p:cNvSpPr txBox="1"/>
          <p:nvPr/>
        </p:nvSpPr>
        <p:spPr>
          <a:xfrm>
            <a:off x="457200" y="3611880"/>
            <a:ext cx="4754880" cy="1005840"/>
          </a:xfrm>
          <a:prstGeom prst="rect">
            <a:avLst/>
          </a:prstGeom>
          <a:noFill/>
          <a:ln/>
        </p:spPr>
        <p:txBody>
          <a:bodyPr wrap="square" lIns="0" tIns="0" rIns="0" bIns="0" rtlCol="0" anchor="t"/>
          <a:lstStyle/>
          <a:p>
            <a:pPr indent="0" marL="0">
              <a:buNone/>
            </a:pPr>
            <a:r>
              <a:rPr lang="en-US" sz="1200" b="1" dirty="0">
                <a:solidFill>
                  <a:srgbClr val="C8892B"/>
                </a:solidFill>
              </a:rPr>
              <a:t>Analysis. </a:t>
            </a:r>
            <a:pPr indent="0" marL="0">
              <a:buNone/>
            </a:pPr>
            <a:r>
              <a:rPr lang="en-US" sz="1200" dirty="0">
                <a:solidFill>
                  <a:srgbClr val="2E4057"/>
                </a:solidFill>
              </a:rPr>
              <a:t>Every category preserves most tokens, so overlap and embedding scores remain high. The signal is local, legally typed and language-specific, so it must be learned from legal judgements and made explicit.</a:t>
            </a:r>
            <a:endParaRPr lang="en-US" sz="1200" dirty="0"/>
          </a:p>
        </p:txBody>
      </p:sp>
      <p:sp>
        <p:nvSpPr>
          <p:cNvPr id="45" name="formal-card"/>
          <p:cNvSpPr/>
          <p:nvPr/>
        </p:nvSpPr>
        <p:spPr>
          <a:xfrm>
            <a:off x="5440680" y="914400"/>
            <a:ext cx="3246120" cy="3703320"/>
          </a:xfrm>
          <a:prstGeom prst="roundRect">
            <a:avLst>
              <a:gd name="adj" fmla="val 2254"/>
            </a:avLst>
          </a:prstGeom>
          <a:solidFill>
            <a:schemeClr val="tx1"/>
          </a:solidFill>
          <a:ln/>
        </p:spPr>
      </p:sp>
      <p:sp>
        <p:nvSpPr>
          <p:cNvPr id="46" name="Text 36"/>
          <p:cNvSpPr txBox="1"/>
          <p:nvPr/>
        </p:nvSpPr>
        <p:spPr>
          <a:xfrm>
            <a:off x="5623560" y="1005840"/>
            <a:ext cx="2926080" cy="320040"/>
          </a:xfrm>
          <a:prstGeom prst="rect">
            <a:avLst/>
          </a:prstGeom>
          <a:noFill/>
          <a:ln/>
        </p:spPr>
        <p:txBody>
          <a:bodyPr wrap="square" lIns="0" tIns="0" rIns="0" bIns="0" rtlCol="0" anchor="ctr"/>
          <a:lstStyle/>
          <a:p>
            <a:pPr indent="0" marL="0">
              <a:buNone/>
            </a:pPr>
            <a:r>
              <a:rPr lang="en-US" sz="1400" b="1" dirty="0">
                <a:solidFill>
                  <a:schemeClr val="accent1"/>
                </a:solidFill>
              </a:rPr>
              <a:t>Formal task definition</a:t>
            </a:r>
            <a:endParaRPr lang="en-US" sz="1400" dirty="0"/>
          </a:p>
        </p:txBody>
      </p:sp>
      <p:sp>
        <p:nvSpPr>
          <p:cNvPr id="47" name="Text 37"/>
          <p:cNvSpPr txBox="1"/>
          <p:nvPr/>
        </p:nvSpPr>
        <p:spPr>
          <a:xfrm>
            <a:off x="5623560" y="1417320"/>
            <a:ext cx="731520" cy="548640"/>
          </a:xfrm>
          <a:prstGeom prst="rect">
            <a:avLst/>
          </a:prstGeom>
          <a:noFill/>
          <a:ln/>
        </p:spPr>
        <p:txBody>
          <a:bodyPr wrap="square" lIns="0" tIns="0" rIns="0" bIns="0" rtlCol="0" anchor="t"/>
          <a:lstStyle/>
          <a:p>
            <a:pPr indent="0" marL="0">
              <a:buNone/>
            </a:pPr>
            <a:r>
              <a:rPr lang="en-US" sz="1100" b="1" dirty="0">
                <a:solidFill>
                  <a:srgbClr val="9FB3C8"/>
                </a:solidFill>
              </a:rPr>
              <a:t>Input</a:t>
            </a:r>
            <a:endParaRPr lang="en-US" sz="1100" dirty="0"/>
          </a:p>
        </p:txBody>
      </p:sp>
      <p:sp>
        <p:nvSpPr>
          <p:cNvPr id="48" name="Text 38"/>
          <p:cNvSpPr txBox="1"/>
          <p:nvPr/>
        </p:nvSpPr>
        <p:spPr>
          <a:xfrm>
            <a:off x="6355080" y="1417320"/>
            <a:ext cx="2240280" cy="566928"/>
          </a:xfrm>
          <a:prstGeom prst="rect">
            <a:avLst/>
          </a:prstGeom>
          <a:noFill/>
          <a:ln/>
        </p:spPr>
        <p:txBody>
          <a:bodyPr wrap="square" lIns="0" tIns="0" rIns="0" bIns="0" rtlCol="0" anchor="t"/>
          <a:lstStyle/>
          <a:p>
            <a:pPr indent="0" marL="0">
              <a:buNone/>
            </a:pPr>
            <a:r>
              <a:rPr lang="en-US" sz="1100" dirty="0">
                <a:solidFill>
                  <a:srgbClr val="FFFFFF"/>
                </a:solidFill>
              </a:rPr>
              <a:t>original o, simplification s; language ℓ ∈ {en, hi}; domain d ∈ {insurance, tenancy}</a:t>
            </a:r>
            <a:endParaRPr lang="en-US" sz="1100" dirty="0"/>
          </a:p>
        </p:txBody>
      </p:sp>
      <p:sp>
        <p:nvSpPr>
          <p:cNvPr id="49" name="Text 39"/>
          <p:cNvSpPr txBox="1"/>
          <p:nvPr/>
        </p:nvSpPr>
        <p:spPr>
          <a:xfrm>
            <a:off x="5623560" y="2039112"/>
            <a:ext cx="731520" cy="548640"/>
          </a:xfrm>
          <a:prstGeom prst="rect">
            <a:avLst/>
          </a:prstGeom>
          <a:noFill/>
          <a:ln/>
        </p:spPr>
        <p:txBody>
          <a:bodyPr wrap="square" lIns="0" tIns="0" rIns="0" bIns="0" rtlCol="0" anchor="t"/>
          <a:lstStyle/>
          <a:p>
            <a:pPr indent="0" marL="0">
              <a:buNone/>
            </a:pPr>
            <a:r>
              <a:rPr lang="en-US" sz="1100" b="1" dirty="0">
                <a:solidFill>
                  <a:srgbClr val="9FB3C8"/>
                </a:solidFill>
              </a:rPr>
              <a:t>Score</a:t>
            </a:r>
            <a:endParaRPr lang="en-US" sz="1100" dirty="0"/>
          </a:p>
        </p:txBody>
      </p:sp>
      <p:sp>
        <p:nvSpPr>
          <p:cNvPr id="50" name="Text 40"/>
          <p:cNvSpPr txBox="1"/>
          <p:nvPr/>
        </p:nvSpPr>
        <p:spPr>
          <a:xfrm>
            <a:off x="6355080" y="2039112"/>
            <a:ext cx="2240280" cy="566928"/>
          </a:xfrm>
          <a:prstGeom prst="rect">
            <a:avLst/>
          </a:prstGeom>
          <a:noFill/>
          <a:ln/>
        </p:spPr>
        <p:txBody>
          <a:bodyPr wrap="square" lIns="0" tIns="0" rIns="0" bIns="0" rtlCol="0" anchor="t"/>
          <a:lstStyle/>
          <a:p>
            <a:pPr indent="0" marL="0">
              <a:buNone/>
            </a:pPr>
            <a:r>
              <a:rPr lang="en-US" sz="1100" dirty="0">
                <a:solidFill>
                  <a:srgbClr val="FFFFFF"/>
                </a:solidFill>
              </a:rPr>
              <a:t>f(o, s; θ) → ŷ ∈ [1, 10], the LMP score</a:t>
            </a:r>
            <a:endParaRPr lang="en-US" sz="1100" dirty="0"/>
          </a:p>
        </p:txBody>
      </p:sp>
      <p:sp>
        <p:nvSpPr>
          <p:cNvPr id="51" name="Text 41"/>
          <p:cNvSpPr txBox="1"/>
          <p:nvPr/>
        </p:nvSpPr>
        <p:spPr>
          <a:xfrm>
            <a:off x="5623560" y="2660904"/>
            <a:ext cx="731520" cy="548640"/>
          </a:xfrm>
          <a:prstGeom prst="rect">
            <a:avLst/>
          </a:prstGeom>
          <a:noFill/>
          <a:ln/>
        </p:spPr>
        <p:txBody>
          <a:bodyPr wrap="square" lIns="0" tIns="0" rIns="0" bIns="0" rtlCol="0" anchor="t"/>
          <a:lstStyle/>
          <a:p>
            <a:pPr indent="0" marL="0">
              <a:buNone/>
            </a:pPr>
            <a:r>
              <a:rPr lang="en-US" sz="1100" b="1" dirty="0">
                <a:solidFill>
                  <a:srgbClr val="9FB3C8"/>
                </a:solidFill>
              </a:rPr>
              <a:t>Decide</a:t>
            </a:r>
            <a:endParaRPr lang="en-US" sz="1100" dirty="0"/>
          </a:p>
        </p:txBody>
      </p:sp>
      <p:sp>
        <p:nvSpPr>
          <p:cNvPr id="52" name="Text 42"/>
          <p:cNvSpPr txBox="1"/>
          <p:nvPr/>
        </p:nvSpPr>
        <p:spPr>
          <a:xfrm>
            <a:off x="6355080" y="2660904"/>
            <a:ext cx="2240280" cy="566928"/>
          </a:xfrm>
          <a:prstGeom prst="rect">
            <a:avLst/>
          </a:prstGeom>
          <a:noFill/>
          <a:ln/>
        </p:spPr>
        <p:txBody>
          <a:bodyPr wrap="square" lIns="0" tIns="0" rIns="0" bIns="0" rtlCol="0" anchor="t"/>
          <a:lstStyle/>
          <a:p>
            <a:pPr indent="0" marL="0">
              <a:buNone/>
            </a:pPr>
            <a:r>
              <a:rPr lang="en-US" sz="1100" dirty="0">
                <a:solidFill>
                  <a:srgbClr val="FFFFFF"/>
                </a:solidFill>
              </a:rPr>
              <a:t>δ(ŷ): Preserved if ŷ ≥ 7.5; Partial if 4.5 ≤ ŷ &lt; 7.5; else Not preserved</a:t>
            </a:r>
            <a:endParaRPr lang="en-US" sz="1100" dirty="0"/>
          </a:p>
        </p:txBody>
      </p:sp>
      <p:sp>
        <p:nvSpPr>
          <p:cNvPr id="53" name="Text 43"/>
          <p:cNvSpPr txBox="1"/>
          <p:nvPr/>
        </p:nvSpPr>
        <p:spPr>
          <a:xfrm>
            <a:off x="5623560" y="3282696"/>
            <a:ext cx="731520" cy="548640"/>
          </a:xfrm>
          <a:prstGeom prst="rect">
            <a:avLst/>
          </a:prstGeom>
          <a:noFill/>
          <a:ln/>
        </p:spPr>
        <p:txBody>
          <a:bodyPr wrap="square" lIns="0" tIns="0" rIns="0" bIns="0" rtlCol="0" anchor="t"/>
          <a:lstStyle/>
          <a:p>
            <a:pPr indent="0" marL="0">
              <a:buNone/>
            </a:pPr>
            <a:r>
              <a:rPr lang="en-US" sz="1100" b="1" dirty="0">
                <a:solidFill>
                  <a:srgbClr val="9FB3C8"/>
                </a:solidFill>
              </a:rPr>
              <a:t>Explain</a:t>
            </a:r>
            <a:endParaRPr lang="en-US" sz="1100" dirty="0"/>
          </a:p>
        </p:txBody>
      </p:sp>
      <p:sp>
        <p:nvSpPr>
          <p:cNvPr id="54" name="Text 44"/>
          <p:cNvSpPr txBox="1"/>
          <p:nvPr/>
        </p:nvSpPr>
        <p:spPr>
          <a:xfrm>
            <a:off x="6355080" y="3282696"/>
            <a:ext cx="2240280" cy="566928"/>
          </a:xfrm>
          <a:prstGeom prst="rect">
            <a:avLst/>
          </a:prstGeom>
          <a:noFill/>
          <a:ln/>
        </p:spPr>
        <p:txBody>
          <a:bodyPr wrap="square" lIns="0" tIns="0" rIns="0" bIns="0" rtlCol="0" anchor="t"/>
          <a:lstStyle/>
          <a:p>
            <a:pPr indent="0" marL="0">
              <a:buNone/>
            </a:pPr>
            <a:r>
              <a:rPr lang="en-US" sz="1100" dirty="0">
                <a:solidFill>
                  <a:srgbClr val="FFFFFF"/>
                </a:solidFill>
              </a:rPr>
              <a:t>g(o, s) → error type e ∈ E (|E| = 10) and rationale r</a:t>
            </a:r>
            <a:endParaRPr lang="en-US" sz="1100" dirty="0"/>
          </a:p>
        </p:txBody>
      </p:sp>
      <p:sp>
        <p:nvSpPr>
          <p:cNvPr id="55" name="Text 45"/>
          <p:cNvSpPr txBox="1"/>
          <p:nvPr/>
        </p:nvSpPr>
        <p:spPr>
          <a:xfrm>
            <a:off x="5623560" y="3904488"/>
            <a:ext cx="731520" cy="548640"/>
          </a:xfrm>
          <a:prstGeom prst="rect">
            <a:avLst/>
          </a:prstGeom>
          <a:noFill/>
          <a:ln/>
        </p:spPr>
        <p:txBody>
          <a:bodyPr wrap="square" lIns="0" tIns="0" rIns="0" bIns="0" rtlCol="0" anchor="t"/>
          <a:lstStyle/>
          <a:p>
            <a:pPr indent="0" marL="0">
              <a:buNone/>
            </a:pPr>
            <a:r>
              <a:rPr lang="en-US" sz="1100" b="1" dirty="0">
                <a:solidFill>
                  <a:srgbClr val="9FB3C8"/>
                </a:solidFill>
              </a:rPr>
              <a:t>Goal</a:t>
            </a:r>
            <a:endParaRPr lang="en-US" sz="1100" dirty="0"/>
          </a:p>
        </p:txBody>
      </p:sp>
      <p:sp>
        <p:nvSpPr>
          <p:cNvPr id="56" name="Text 46"/>
          <p:cNvSpPr txBox="1"/>
          <p:nvPr/>
        </p:nvSpPr>
        <p:spPr>
          <a:xfrm>
            <a:off x="6355080" y="3904488"/>
            <a:ext cx="2240280" cy="566928"/>
          </a:xfrm>
          <a:prstGeom prst="rect">
            <a:avLst/>
          </a:prstGeom>
          <a:noFill/>
          <a:ln/>
        </p:spPr>
        <p:txBody>
          <a:bodyPr wrap="square" lIns="0" tIns="0" rIns="0" bIns="0" rtlCol="0" anchor="t"/>
          <a:lstStyle/>
          <a:p>
            <a:pPr indent="0" marL="0">
              <a:buNone/>
            </a:pPr>
            <a:r>
              <a:rPr lang="en-US" sz="1100" dirty="0">
                <a:solidFill>
                  <a:srgbClr val="FFFFFF"/>
                </a:solidFill>
              </a:rPr>
              <a:t>maximise r(ŷ, y), minimise RMSE(ŷ, y) against human LMP y</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Review of existing systems</a:t>
            </a:r>
            <a:endParaRPr lang="en-US" sz="2800" dirty="0"/>
          </a:p>
        </p:txBody>
      </p:sp>
      <p:graphicFrame>
        <p:nvGraphicFramePr>
          <p:cNvPr id="5" name="lit-table"/>
          <p:cNvGraphicFramePr>
            <a:graphicFrameLocks noGrp="1"/>
          </p:cNvGraphicFramePr>
          <p:nvPr>
            <p:extLst>
              <p:ext uri="{D42A27DB-BD31-4B8C-83A1-F6EECF244321}">
                <p14:modId xmlns:p14="http://schemas.microsoft.com/office/powerpoint/2010/main" val="1579011935"/>
              </p:ext>
            </p:extLst>
          </p:nvPr>
        </p:nvGraphicFramePr>
        <p:xfrm>
          <a:off x="457200" y="896112"/>
          <a:ext cx="8229600" cy="914400"/>
        </p:xfrm>
        <a:graphic>
          <a:graphicData uri="http://schemas.openxmlformats.org/drawingml/2006/table">
            <a:tbl>
              <a:tblPr/>
              <a:tblGrid>
                <a:gridCol w="621792"/>
                <a:gridCol w="1481328"/>
                <a:gridCol w="1938528"/>
                <a:gridCol w="2377440"/>
                <a:gridCol w="548640"/>
                <a:gridCol w="548640"/>
                <a:gridCol w="713232"/>
              </a:tblGrid>
              <a:tr h="338328">
                <a:tc>
                  <a:txBody>
                    <a:bodyPr/>
                    <a:lstStyle/>
                    <a:p>
                      <a:pPr algn="l" indent="0" marL="0">
                        <a:buNone/>
                      </a:pPr>
                      <a:r>
                        <a:rPr lang="en-US" sz="1050" b="1" dirty="0">
                          <a:solidFill>
                            <a:srgbClr val="FFFFFF"/>
                          </a:solidFill>
                        </a:rPr>
                        <a:t>Year</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l" indent="0" marL="0">
                        <a:buNone/>
                      </a:pPr>
                      <a:r>
                        <a:rPr lang="en-US" sz="1050" b="1" dirty="0">
                          <a:solidFill>
                            <a:srgbClr val="FFFFFF"/>
                          </a:solidFill>
                        </a:rPr>
                        <a:t>System</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l" indent="0" marL="0">
                        <a:buNone/>
                      </a:pPr>
                      <a:r>
                        <a:rPr lang="en-US" sz="1050" b="1" dirty="0">
                          <a:solidFill>
                            <a:srgbClr val="FFFFFF"/>
                          </a:solidFill>
                        </a:rPr>
                        <a:t>Core idea</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l" indent="0" marL="0">
                        <a:buNone/>
                      </a:pPr>
                      <a:r>
                        <a:rPr lang="en-US" sz="1050" b="1" dirty="0">
                          <a:solidFill>
                            <a:srgbClr val="FFFFFF"/>
                          </a:solidFill>
                        </a:rPr>
                        <a:t>Limitation for legal meaning</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50" b="1" dirty="0">
                          <a:solidFill>
                            <a:srgbClr val="FFFFFF"/>
                          </a:solidFill>
                        </a:rPr>
                        <a:t>Legal</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50" b="1" dirty="0">
                          <a:solidFill>
                            <a:srgbClr val="FFFFFF"/>
                          </a:solidFill>
                        </a:rPr>
                        <a:t>Hindi</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50" b="1" dirty="0">
                          <a:solidFill>
                            <a:srgbClr val="FFFFFF"/>
                          </a:solidFill>
                        </a:rPr>
                        <a:t>Explains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r>
              <a:tr h="338328">
                <a:tc>
                  <a:txBody>
                    <a:bodyPr/>
                    <a:lstStyle/>
                    <a:p>
                      <a:pPr indent="0" marL="0">
                        <a:buNone/>
                      </a:pPr>
                      <a:r>
                        <a:rPr lang="en-US" sz="1050" dirty="0">
                          <a:solidFill>
                            <a:srgbClr val="1B2A41"/>
                          </a:solidFill>
                        </a:rPr>
                        <a:t>2002</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BLEU</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n-gram precision vs reference</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Rewards copying; ignores a lost “not”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892B"/>
                          </a:solidFill>
                        </a:rPr>
                        <a:t>Part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dirty="0">
                          <a:solidFill>
                            <a:srgbClr val="1B2A41"/>
                          </a:solidFill>
                        </a:rPr>
                        <a:t>2015</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chrF</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character n-gram F-score</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Morphology-robust but surface-only</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892B"/>
                          </a:solidFill>
                        </a:rPr>
                        <a:t>Part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dirty="0">
                          <a:solidFill>
                            <a:srgbClr val="1B2A41"/>
                          </a:solidFill>
                        </a:rPr>
                        <a:t>2016</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SARI</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add / keep / delete vs references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Scores simplicity, needs references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dirty="0">
                          <a:solidFill>
                            <a:srgbClr val="1B2A41"/>
                          </a:solidFill>
                        </a:rPr>
                        <a:t>2019–20</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SBERT, BERTScore</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contextual embedding similarity</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“covers” ≈ “does not cover” (slide 2)</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892B"/>
                          </a:solidFill>
                        </a:rPr>
                        <a:t>Part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dirty="0">
                          <a:solidFill>
                            <a:srgbClr val="1B2A41"/>
                          </a:solidFill>
                        </a:rPr>
                        <a:t>2023</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MeaningBERT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learned meaning regressor</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General domain; no legal categories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dirty="0">
                          <a:solidFill>
                            <a:srgbClr val="1B2A41"/>
                          </a:solidFill>
                        </a:rPr>
                        <a:t>2023</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1B2A41"/>
                          </a:solidFill>
                        </a:rPr>
                        <a:t>LLM-as-judge (G-Eval)</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prompted LLM rating + reasoning</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Costly, uncalibrated, not reproducible</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892B"/>
                          </a:solidFill>
                        </a:rPr>
                        <a:t>Part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8892B"/>
                          </a:solidFill>
                        </a:rPr>
                        <a:t>Part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F8A3C"/>
                          </a:solidFill>
                        </a:rPr>
                        <a:t>Yes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2A7F7A"/>
                          </a:solidFill>
                        </a:rPr>
                        <a:t>2025</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b="1" dirty="0">
                          <a:solidFill>
                            <a:srgbClr val="2A7F7A"/>
                          </a:solidFill>
                        </a:rPr>
                        <a:t>JUDGEBERT</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BERT regressor on FrJUDGE</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French insurance only; no reasons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F8A3C"/>
                          </a:solidFill>
                        </a:rPr>
                        <a:t>Yes</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5452F"/>
                          </a:solidFill>
                        </a:rPr>
                        <a:t>No</a:t>
                      </a:r>
                      <a:endParaRPr lang="en-US" sz="105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4" name="gap-callout"/>
          <p:cNvSpPr/>
          <p:nvPr/>
        </p:nvSpPr>
        <p:spPr>
          <a:xfrm>
            <a:off x="457200" y="3794760"/>
            <a:ext cx="8229600" cy="457200"/>
          </a:xfrm>
          <a:prstGeom prst="roundRect">
            <a:avLst>
              <a:gd name="adj" fmla="val 16000"/>
            </a:avLst>
          </a:prstGeom>
          <a:solidFill>
            <a:srgbClr val="E3F0EE"/>
          </a:solidFill>
          <a:ln/>
        </p:spPr>
      </p:sp>
      <p:sp>
        <p:nvSpPr>
          <p:cNvPr id="5" name="Text 2"/>
          <p:cNvSpPr txBox="1"/>
          <p:nvPr/>
        </p:nvSpPr>
        <p:spPr>
          <a:xfrm>
            <a:off x="594360" y="3794760"/>
            <a:ext cx="7955280" cy="457200"/>
          </a:xfrm>
          <a:prstGeom prst="rect">
            <a:avLst/>
          </a:prstGeom>
          <a:noFill/>
          <a:ln/>
        </p:spPr>
        <p:txBody>
          <a:bodyPr wrap="square" lIns="0" tIns="0" rIns="0" bIns="0" rtlCol="0" anchor="ctr"/>
          <a:lstStyle/>
          <a:p>
            <a:pPr indent="0" marL="0">
              <a:buNone/>
            </a:pPr>
            <a:r>
              <a:rPr lang="en-US" sz="1300" b="1" dirty="0">
                <a:solidFill>
                  <a:srgbClr val="2A7F7A"/>
                </a:solidFill>
              </a:rPr>
              <a:t>Research gap  </a:t>
            </a:r>
            <a:pPr indent="0" marL="0">
              <a:buNone/>
            </a:pPr>
            <a:r>
              <a:rPr lang="en-US" sz="1300" dirty="0">
                <a:solidFill>
                  <a:srgbClr val="1B2A41"/>
                </a:solidFill>
              </a:rPr>
              <a:t>No calibrated, explainable legal-meaning metric exists for Hindi, or beyond French insurance text.</a:t>
            </a:r>
            <a:endParaRPr lang="en-US" sz="1300" dirty="0"/>
          </a:p>
        </p:txBody>
      </p:sp>
      <p:sp>
        <p:nvSpPr>
          <p:cNvPr id="6" name="Text 3"/>
          <p:cNvSpPr txBox="1"/>
          <p:nvPr/>
        </p:nvSpPr>
        <p:spPr>
          <a:xfrm>
            <a:off x="457200" y="440740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Papineni+ 2002 · Popović 2015 · Xu+ 2016 · Reimers &amp; Gurevych 2019 · Zhang+ 2020 · Beauchemin+ 2023 · Liu+ 2023 · Beauchemin+ 2025 (EMNLP)</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Base paper, research gaps and objectives</a:t>
            </a:r>
            <a:endParaRPr lang="en-US" sz="2800" dirty="0"/>
          </a:p>
        </p:txBody>
      </p:sp>
      <p:sp>
        <p:nvSpPr>
          <p:cNvPr id="3" name="jb-strip"/>
          <p:cNvSpPr/>
          <p:nvPr/>
        </p:nvSpPr>
        <p:spPr>
          <a:xfrm>
            <a:off x="457200" y="896112"/>
            <a:ext cx="4114800" cy="749808"/>
          </a:xfrm>
          <a:prstGeom prst="roundRect">
            <a:avLst>
              <a:gd name="adj" fmla="val 9756"/>
            </a:avLst>
          </a:prstGeom>
          <a:solidFill>
            <a:schemeClr val="tx1"/>
          </a:solidFill>
          <a:ln/>
        </p:spPr>
      </p:sp>
      <p:pic>
        <p:nvPicPr>
          <p:cNvPr id="4" name="jb-icon" descr="preencoded.png">    </p:cNvPr>
          <p:cNvPicPr>
            <a:picLocks noChangeAspect="1"/>
          </p:cNvPicPr>
          <p:nvPr/>
        </p:nvPicPr>
        <p:blipFill>
          <a:blip r:embed="rId1"/>
          <a:stretch>
            <a:fillRect/>
          </a:stretch>
        </p:blipFill>
        <p:spPr>
          <a:xfrm>
            <a:off x="594360" y="1033272"/>
            <a:ext cx="457200" cy="457200"/>
          </a:xfrm>
          <a:prstGeom prst="rect">
            <a:avLst/>
          </a:prstGeom>
        </p:spPr>
      </p:pic>
      <p:sp>
        <p:nvSpPr>
          <p:cNvPr id="5" name="Text 2"/>
          <p:cNvSpPr txBox="1"/>
          <p:nvPr/>
        </p:nvSpPr>
        <p:spPr>
          <a:xfrm>
            <a:off x="1170432" y="914400"/>
            <a:ext cx="3337560" cy="713232"/>
          </a:xfrm>
          <a:prstGeom prst="rect">
            <a:avLst/>
          </a:prstGeom>
          <a:noFill/>
          <a:ln/>
        </p:spPr>
        <p:txBody>
          <a:bodyPr wrap="square" lIns="0" tIns="0" rIns="0" bIns="0" rtlCol="0" anchor="ctr"/>
          <a:lstStyle/>
          <a:p>
            <a:pPr indent="0" marL="0">
              <a:buNone/>
            </a:pPr>
            <a:r>
              <a:rPr lang="en-US" sz="1050" b="1" dirty="0">
                <a:solidFill>
                  <a:srgbClr val="C8892B"/>
                </a:solidFill>
              </a:rPr>
              <a:t>JUDGEBERT (EMNLP 2025): </a:t>
            </a:r>
            <a:pPr indent="0" marL="0">
              <a:buNone/>
            </a:pPr>
            <a:r>
              <a:rPr lang="en-US" sz="1050" dirty="0">
                <a:solidFill>
                  <a:srgbClr val="FFFFFF"/>
                </a:solidFill>
              </a:rPr>
              <a:t>297 French insurance pairs, 5 annotators each, LMP 1–10; BERT regressor + identical / unrelated augmentation</a:t>
            </a:r>
            <a:endParaRPr lang="en-US" sz="1050" dirty="0"/>
          </a:p>
        </p:txBody>
      </p:sp>
      <p:sp>
        <p:nvSpPr>
          <p:cNvPr id="6" name="gap-0"/>
          <p:cNvSpPr/>
          <p:nvPr/>
        </p:nvSpPr>
        <p:spPr>
          <a:xfrm>
            <a:off x="457200" y="1783080"/>
            <a:ext cx="1645920" cy="475488"/>
          </a:xfrm>
          <a:prstGeom prst="roundRect">
            <a:avLst>
              <a:gd name="adj" fmla="val 15385"/>
            </a:avLst>
          </a:prstGeom>
          <a:solidFill>
            <a:srgbClr val="F7E6E1"/>
          </a:solidFill>
          <a:ln/>
        </p:spPr>
      </p:sp>
      <p:sp>
        <p:nvSpPr>
          <p:cNvPr id="7" name="Text 4"/>
          <p:cNvSpPr txBox="1"/>
          <p:nvPr/>
        </p:nvSpPr>
        <p:spPr>
          <a:xfrm>
            <a:off x="548640" y="1783080"/>
            <a:ext cx="1508760" cy="475488"/>
          </a:xfrm>
          <a:prstGeom prst="rect">
            <a:avLst/>
          </a:prstGeom>
          <a:noFill/>
          <a:ln/>
        </p:spPr>
        <p:txBody>
          <a:bodyPr wrap="square" lIns="0" tIns="0" rIns="0" bIns="0" rtlCol="0" anchor="ctr"/>
          <a:lstStyle/>
          <a:p>
            <a:pPr indent="0" marL="0">
              <a:buNone/>
            </a:pPr>
            <a:r>
              <a:rPr lang="en-US" sz="1100" b="1" dirty="0">
                <a:solidFill>
                  <a:schemeClr val="accent3"/>
                </a:solidFill>
              </a:rPr>
              <a:t>French only</a:t>
            </a:r>
            <a:endParaRPr lang="en-US" sz="1100" dirty="0"/>
          </a:p>
        </p:txBody>
      </p:sp>
      <p:sp>
        <p:nvSpPr>
          <p:cNvPr id="8" name="gap-arrow-0"/>
          <p:cNvSpPr/>
          <p:nvPr/>
        </p:nvSpPr>
        <p:spPr>
          <a:xfrm>
            <a:off x="2167128" y="1929384"/>
            <a:ext cx="201168" cy="182880"/>
          </a:xfrm>
          <a:prstGeom prst="rightArrow">
            <a:avLst/>
          </a:prstGeom>
          <a:solidFill>
            <a:srgbClr val="8E9AAF"/>
          </a:solidFill>
          <a:ln/>
        </p:spPr>
      </p:sp>
      <p:sp>
        <p:nvSpPr>
          <p:cNvPr id="9" name="ext-0"/>
          <p:cNvSpPr/>
          <p:nvPr/>
        </p:nvSpPr>
        <p:spPr>
          <a:xfrm>
            <a:off x="2432304" y="1783080"/>
            <a:ext cx="2139696" cy="475488"/>
          </a:xfrm>
          <a:prstGeom prst="roundRect">
            <a:avLst>
              <a:gd name="adj" fmla="val 15385"/>
            </a:avLst>
          </a:prstGeom>
          <a:solidFill>
            <a:srgbClr val="E3F0EE"/>
          </a:solidFill>
          <a:ln/>
        </p:spPr>
      </p:sp>
      <p:sp>
        <p:nvSpPr>
          <p:cNvPr id="10" name="Text 7"/>
          <p:cNvSpPr txBox="1"/>
          <p:nvPr/>
        </p:nvSpPr>
        <p:spPr>
          <a:xfrm>
            <a:off x="2523744" y="1783080"/>
            <a:ext cx="2011680" cy="475488"/>
          </a:xfrm>
          <a:prstGeom prst="rect">
            <a:avLst/>
          </a:prstGeom>
          <a:noFill/>
          <a:ln/>
        </p:spPr>
        <p:txBody>
          <a:bodyPr wrap="square" lIns="0" tIns="0" rIns="0" bIns="0" rtlCol="0" anchor="ctr"/>
          <a:lstStyle/>
          <a:p>
            <a:pPr indent="0" marL="0">
              <a:buNone/>
            </a:pPr>
            <a:r>
              <a:rPr lang="en-US" sz="1100" dirty="0">
                <a:solidFill>
                  <a:schemeClr val="tx1"/>
                </a:solidFill>
              </a:rPr>
              <a:t>English + Hindi (Devanagari)</a:t>
            </a:r>
            <a:endParaRPr lang="en-US" sz="1100" dirty="0"/>
          </a:p>
        </p:txBody>
      </p:sp>
      <p:sp>
        <p:nvSpPr>
          <p:cNvPr id="11" name="gap-1"/>
          <p:cNvSpPr/>
          <p:nvPr/>
        </p:nvSpPr>
        <p:spPr>
          <a:xfrm>
            <a:off x="457200" y="2350008"/>
            <a:ext cx="1645920" cy="475488"/>
          </a:xfrm>
          <a:prstGeom prst="roundRect">
            <a:avLst>
              <a:gd name="adj" fmla="val 15385"/>
            </a:avLst>
          </a:prstGeom>
          <a:solidFill>
            <a:srgbClr val="F7E6E1"/>
          </a:solidFill>
          <a:ln/>
        </p:spPr>
      </p:sp>
      <p:sp>
        <p:nvSpPr>
          <p:cNvPr id="12" name="Text 9"/>
          <p:cNvSpPr txBox="1"/>
          <p:nvPr/>
        </p:nvSpPr>
        <p:spPr>
          <a:xfrm>
            <a:off x="548640" y="2350008"/>
            <a:ext cx="1508760" cy="475488"/>
          </a:xfrm>
          <a:prstGeom prst="rect">
            <a:avLst/>
          </a:prstGeom>
          <a:noFill/>
          <a:ln/>
        </p:spPr>
        <p:txBody>
          <a:bodyPr wrap="square" lIns="0" tIns="0" rIns="0" bIns="0" rtlCol="0" anchor="ctr"/>
          <a:lstStyle/>
          <a:p>
            <a:pPr indent="0" marL="0">
              <a:buNone/>
            </a:pPr>
            <a:r>
              <a:rPr lang="en-US" sz="1100" b="1" dirty="0">
                <a:solidFill>
                  <a:schemeClr val="accent3"/>
                </a:solidFill>
              </a:rPr>
              <a:t>Insurance only</a:t>
            </a:r>
            <a:endParaRPr lang="en-US" sz="1100" dirty="0"/>
          </a:p>
        </p:txBody>
      </p:sp>
      <p:sp>
        <p:nvSpPr>
          <p:cNvPr id="13" name="gap-arrow-1"/>
          <p:cNvSpPr/>
          <p:nvPr/>
        </p:nvSpPr>
        <p:spPr>
          <a:xfrm>
            <a:off x="2167128" y="2496312"/>
            <a:ext cx="201168" cy="182880"/>
          </a:xfrm>
          <a:prstGeom prst="rightArrow">
            <a:avLst/>
          </a:prstGeom>
          <a:solidFill>
            <a:srgbClr val="8E9AAF"/>
          </a:solidFill>
          <a:ln/>
        </p:spPr>
      </p:sp>
      <p:sp>
        <p:nvSpPr>
          <p:cNvPr id="14" name="ext-1"/>
          <p:cNvSpPr/>
          <p:nvPr/>
        </p:nvSpPr>
        <p:spPr>
          <a:xfrm>
            <a:off x="2432304" y="2350008"/>
            <a:ext cx="2139696" cy="475488"/>
          </a:xfrm>
          <a:prstGeom prst="roundRect">
            <a:avLst>
              <a:gd name="adj" fmla="val 15385"/>
            </a:avLst>
          </a:prstGeom>
          <a:solidFill>
            <a:srgbClr val="E3F0EE"/>
          </a:solidFill>
          <a:ln/>
        </p:spPr>
      </p:sp>
      <p:sp>
        <p:nvSpPr>
          <p:cNvPr id="15" name="Text 12"/>
          <p:cNvSpPr txBox="1"/>
          <p:nvPr/>
        </p:nvSpPr>
        <p:spPr>
          <a:xfrm>
            <a:off x="2523744" y="2350008"/>
            <a:ext cx="2011680" cy="475488"/>
          </a:xfrm>
          <a:prstGeom prst="rect">
            <a:avLst/>
          </a:prstGeom>
          <a:noFill/>
          <a:ln/>
        </p:spPr>
        <p:txBody>
          <a:bodyPr wrap="square" lIns="0" tIns="0" rIns="0" bIns="0" rtlCol="0" anchor="ctr"/>
          <a:lstStyle/>
          <a:p>
            <a:pPr indent="0" marL="0">
              <a:buNone/>
            </a:pPr>
            <a:r>
              <a:rPr lang="en-US" sz="1100" dirty="0">
                <a:solidFill>
                  <a:schemeClr val="tx1"/>
                </a:solidFill>
              </a:rPr>
              <a:t>+ tenancy / rent-agreement law</a:t>
            </a:r>
            <a:endParaRPr lang="en-US" sz="1100" dirty="0"/>
          </a:p>
        </p:txBody>
      </p:sp>
      <p:sp>
        <p:nvSpPr>
          <p:cNvPr id="16" name="gap-2"/>
          <p:cNvSpPr/>
          <p:nvPr/>
        </p:nvSpPr>
        <p:spPr>
          <a:xfrm>
            <a:off x="457200" y="2916936"/>
            <a:ext cx="1645920" cy="475488"/>
          </a:xfrm>
          <a:prstGeom prst="roundRect">
            <a:avLst>
              <a:gd name="adj" fmla="val 15385"/>
            </a:avLst>
          </a:prstGeom>
          <a:solidFill>
            <a:srgbClr val="F7E6E1"/>
          </a:solidFill>
          <a:ln/>
        </p:spPr>
      </p:sp>
      <p:sp>
        <p:nvSpPr>
          <p:cNvPr id="17" name="Text 14"/>
          <p:cNvSpPr txBox="1"/>
          <p:nvPr/>
        </p:nvSpPr>
        <p:spPr>
          <a:xfrm>
            <a:off x="548640" y="2916936"/>
            <a:ext cx="1508760" cy="475488"/>
          </a:xfrm>
          <a:prstGeom prst="rect">
            <a:avLst/>
          </a:prstGeom>
          <a:noFill/>
          <a:ln/>
        </p:spPr>
        <p:txBody>
          <a:bodyPr wrap="square" lIns="0" tIns="0" rIns="0" bIns="0" rtlCol="0" anchor="ctr"/>
          <a:lstStyle/>
          <a:p>
            <a:pPr indent="0" marL="0">
              <a:buNone/>
            </a:pPr>
            <a:r>
              <a:rPr lang="en-US" sz="1100" b="1" dirty="0">
                <a:solidFill>
                  <a:schemeClr val="accent3"/>
                </a:solidFill>
              </a:rPr>
              <a:t>297 pairs</a:t>
            </a:r>
            <a:endParaRPr lang="en-US" sz="1100" dirty="0"/>
          </a:p>
        </p:txBody>
      </p:sp>
      <p:sp>
        <p:nvSpPr>
          <p:cNvPr id="18" name="gap-arrow-2"/>
          <p:cNvSpPr/>
          <p:nvPr/>
        </p:nvSpPr>
        <p:spPr>
          <a:xfrm>
            <a:off x="2167128" y="3063240"/>
            <a:ext cx="201168" cy="182880"/>
          </a:xfrm>
          <a:prstGeom prst="rightArrow">
            <a:avLst/>
          </a:prstGeom>
          <a:solidFill>
            <a:srgbClr val="8E9AAF"/>
          </a:solidFill>
          <a:ln/>
        </p:spPr>
      </p:sp>
      <p:sp>
        <p:nvSpPr>
          <p:cNvPr id="19" name="ext-2"/>
          <p:cNvSpPr/>
          <p:nvPr/>
        </p:nvSpPr>
        <p:spPr>
          <a:xfrm>
            <a:off x="2432304" y="2916936"/>
            <a:ext cx="2139696" cy="475488"/>
          </a:xfrm>
          <a:prstGeom prst="roundRect">
            <a:avLst>
              <a:gd name="adj" fmla="val 15385"/>
            </a:avLst>
          </a:prstGeom>
          <a:solidFill>
            <a:srgbClr val="E3F0EE"/>
          </a:solidFill>
          <a:ln/>
        </p:spPr>
      </p:sp>
      <p:sp>
        <p:nvSpPr>
          <p:cNvPr id="20" name="Text 17"/>
          <p:cNvSpPr txBox="1"/>
          <p:nvPr/>
        </p:nvSpPr>
        <p:spPr>
          <a:xfrm>
            <a:off x="2523744" y="2916936"/>
            <a:ext cx="2011680" cy="475488"/>
          </a:xfrm>
          <a:prstGeom prst="rect">
            <a:avLst/>
          </a:prstGeom>
          <a:noFill/>
          <a:ln/>
        </p:spPr>
        <p:txBody>
          <a:bodyPr wrap="square" lIns="0" tIns="0" rIns="0" bIns="0" rtlCol="0" anchor="ctr"/>
          <a:lstStyle/>
          <a:p>
            <a:pPr indent="0" marL="0">
              <a:buNone/>
            </a:pPr>
            <a:r>
              <a:rPr lang="en-US" sz="1100" dirty="0">
                <a:solidFill>
                  <a:schemeClr val="tx1"/>
                </a:solidFill>
              </a:rPr>
              <a:t>320 new pairs + 320 sanity pairs</a:t>
            </a:r>
            <a:endParaRPr lang="en-US" sz="1100" dirty="0"/>
          </a:p>
        </p:txBody>
      </p:sp>
      <p:sp>
        <p:nvSpPr>
          <p:cNvPr id="21" name="gap-3"/>
          <p:cNvSpPr/>
          <p:nvPr/>
        </p:nvSpPr>
        <p:spPr>
          <a:xfrm>
            <a:off x="457200" y="3483864"/>
            <a:ext cx="1645920" cy="475488"/>
          </a:xfrm>
          <a:prstGeom prst="roundRect">
            <a:avLst>
              <a:gd name="adj" fmla="val 15385"/>
            </a:avLst>
          </a:prstGeom>
          <a:solidFill>
            <a:srgbClr val="F7E6E1"/>
          </a:solidFill>
          <a:ln/>
        </p:spPr>
      </p:sp>
      <p:sp>
        <p:nvSpPr>
          <p:cNvPr id="22" name="Text 19"/>
          <p:cNvSpPr txBox="1"/>
          <p:nvPr/>
        </p:nvSpPr>
        <p:spPr>
          <a:xfrm>
            <a:off x="548640" y="3483864"/>
            <a:ext cx="1508760" cy="475488"/>
          </a:xfrm>
          <a:prstGeom prst="rect">
            <a:avLst/>
          </a:prstGeom>
          <a:noFill/>
          <a:ln/>
        </p:spPr>
        <p:txBody>
          <a:bodyPr wrap="square" lIns="0" tIns="0" rIns="0" bIns="0" rtlCol="0" anchor="ctr"/>
          <a:lstStyle/>
          <a:p>
            <a:pPr indent="0" marL="0">
              <a:buNone/>
            </a:pPr>
            <a:r>
              <a:rPr lang="en-US" sz="1100" b="1" dirty="0">
                <a:solidFill>
                  <a:schemeClr val="accent3"/>
                </a:solidFill>
              </a:rPr>
              <a:t>No out-of-domain test</a:t>
            </a:r>
            <a:endParaRPr lang="en-US" sz="1100" dirty="0"/>
          </a:p>
        </p:txBody>
      </p:sp>
      <p:sp>
        <p:nvSpPr>
          <p:cNvPr id="23" name="gap-arrow-3"/>
          <p:cNvSpPr/>
          <p:nvPr/>
        </p:nvSpPr>
        <p:spPr>
          <a:xfrm>
            <a:off x="2167128" y="3630168"/>
            <a:ext cx="201168" cy="182880"/>
          </a:xfrm>
          <a:prstGeom prst="rightArrow">
            <a:avLst/>
          </a:prstGeom>
          <a:solidFill>
            <a:srgbClr val="8E9AAF"/>
          </a:solidFill>
          <a:ln/>
        </p:spPr>
      </p:sp>
      <p:sp>
        <p:nvSpPr>
          <p:cNvPr id="24" name="ext-3"/>
          <p:cNvSpPr/>
          <p:nvPr/>
        </p:nvSpPr>
        <p:spPr>
          <a:xfrm>
            <a:off x="2432304" y="3483864"/>
            <a:ext cx="2139696" cy="475488"/>
          </a:xfrm>
          <a:prstGeom prst="roundRect">
            <a:avLst>
              <a:gd name="adj" fmla="val 15385"/>
            </a:avLst>
          </a:prstGeom>
          <a:solidFill>
            <a:srgbClr val="E3F0EE"/>
          </a:solidFill>
          <a:ln/>
        </p:spPr>
      </p:sp>
      <p:sp>
        <p:nvSpPr>
          <p:cNvPr id="25" name="Text 22"/>
          <p:cNvSpPr txBox="1"/>
          <p:nvPr/>
        </p:nvSpPr>
        <p:spPr>
          <a:xfrm>
            <a:off x="2523744" y="3483864"/>
            <a:ext cx="2011680" cy="475488"/>
          </a:xfrm>
          <a:prstGeom prst="rect">
            <a:avLst/>
          </a:prstGeom>
          <a:noFill/>
          <a:ln/>
        </p:spPr>
        <p:txBody>
          <a:bodyPr wrap="square" lIns="0" tIns="0" rIns="0" bIns="0" rtlCol="0" anchor="ctr"/>
          <a:lstStyle/>
          <a:p>
            <a:pPr indent="0" marL="0">
              <a:buNone/>
            </a:pPr>
            <a:r>
              <a:rPr lang="en-US" sz="1100" dirty="0">
                <a:solidFill>
                  <a:schemeClr val="tx1"/>
                </a:solidFill>
              </a:rPr>
              <a:t>cross-lingual, cross-domain, FrJUDGE</a:t>
            </a:r>
            <a:endParaRPr lang="en-US" sz="1100" dirty="0"/>
          </a:p>
        </p:txBody>
      </p:sp>
      <p:sp>
        <p:nvSpPr>
          <p:cNvPr id="26" name="gap-4"/>
          <p:cNvSpPr/>
          <p:nvPr/>
        </p:nvSpPr>
        <p:spPr>
          <a:xfrm>
            <a:off x="457200" y="4050792"/>
            <a:ext cx="1645920" cy="475488"/>
          </a:xfrm>
          <a:prstGeom prst="roundRect">
            <a:avLst>
              <a:gd name="adj" fmla="val 15385"/>
            </a:avLst>
          </a:prstGeom>
          <a:solidFill>
            <a:srgbClr val="F7E6E1"/>
          </a:solidFill>
          <a:ln/>
        </p:spPr>
      </p:sp>
      <p:sp>
        <p:nvSpPr>
          <p:cNvPr id="27" name="Text 24"/>
          <p:cNvSpPr txBox="1"/>
          <p:nvPr/>
        </p:nvSpPr>
        <p:spPr>
          <a:xfrm>
            <a:off x="548640" y="4050792"/>
            <a:ext cx="1508760" cy="475488"/>
          </a:xfrm>
          <a:prstGeom prst="rect">
            <a:avLst/>
          </a:prstGeom>
          <a:noFill/>
          <a:ln/>
        </p:spPr>
        <p:txBody>
          <a:bodyPr wrap="square" lIns="0" tIns="0" rIns="0" bIns="0" rtlCol="0" anchor="ctr"/>
          <a:lstStyle/>
          <a:p>
            <a:pPr indent="0" marL="0">
              <a:buNone/>
            </a:pPr>
            <a:r>
              <a:rPr lang="en-US" sz="1100" b="1" dirty="0">
                <a:solidFill>
                  <a:schemeClr val="accent3"/>
                </a:solidFill>
              </a:rPr>
              <a:t>Score only</a:t>
            </a:r>
            <a:endParaRPr lang="en-US" sz="1100" dirty="0"/>
          </a:p>
        </p:txBody>
      </p:sp>
      <p:sp>
        <p:nvSpPr>
          <p:cNvPr id="28" name="gap-arrow-4"/>
          <p:cNvSpPr/>
          <p:nvPr/>
        </p:nvSpPr>
        <p:spPr>
          <a:xfrm>
            <a:off x="2167128" y="4197096"/>
            <a:ext cx="201168" cy="182880"/>
          </a:xfrm>
          <a:prstGeom prst="rightArrow">
            <a:avLst/>
          </a:prstGeom>
          <a:solidFill>
            <a:srgbClr val="8E9AAF"/>
          </a:solidFill>
          <a:ln/>
        </p:spPr>
      </p:sp>
      <p:sp>
        <p:nvSpPr>
          <p:cNvPr id="29" name="ext-4"/>
          <p:cNvSpPr/>
          <p:nvPr/>
        </p:nvSpPr>
        <p:spPr>
          <a:xfrm>
            <a:off x="2432304" y="4050792"/>
            <a:ext cx="2139696" cy="475488"/>
          </a:xfrm>
          <a:prstGeom prst="roundRect">
            <a:avLst>
              <a:gd name="adj" fmla="val 15385"/>
            </a:avLst>
          </a:prstGeom>
          <a:solidFill>
            <a:srgbClr val="E3F0EE"/>
          </a:solidFill>
          <a:ln/>
        </p:spPr>
      </p:sp>
      <p:sp>
        <p:nvSpPr>
          <p:cNvPr id="30" name="Text 27"/>
          <p:cNvSpPr txBox="1"/>
          <p:nvPr/>
        </p:nvSpPr>
        <p:spPr>
          <a:xfrm>
            <a:off x="2523744" y="4050792"/>
            <a:ext cx="2011680" cy="475488"/>
          </a:xfrm>
          <a:prstGeom prst="rect">
            <a:avLst/>
          </a:prstGeom>
          <a:noFill/>
          <a:ln/>
        </p:spPr>
        <p:txBody>
          <a:bodyPr wrap="square" lIns="0" tIns="0" rIns="0" bIns="0" rtlCol="0" anchor="ctr"/>
          <a:lstStyle/>
          <a:p>
            <a:pPr indent="0" marL="0">
              <a:buNone/>
            </a:pPr>
            <a:r>
              <a:rPr lang="en-US" sz="1100" dirty="0">
                <a:solidFill>
                  <a:schemeClr val="tx1"/>
                </a:solidFill>
              </a:rPr>
              <a:t>decision + error type + rationale</a:t>
            </a:r>
            <a:endParaRPr lang="en-US" sz="1100" dirty="0"/>
          </a:p>
        </p:txBody>
      </p:sp>
      <p:sp>
        <p:nvSpPr>
          <p:cNvPr id="31" name="rq-card"/>
          <p:cNvSpPr/>
          <p:nvPr/>
        </p:nvSpPr>
        <p:spPr>
          <a:xfrm>
            <a:off x="4800600" y="896112"/>
            <a:ext cx="3886200" cy="1371600"/>
          </a:xfrm>
          <a:prstGeom prst="roundRect">
            <a:avLst>
              <a:gd name="adj" fmla="val 5333"/>
            </a:avLst>
          </a:prstGeom>
          <a:solidFill>
            <a:srgbClr val="FBF3E6"/>
          </a:solidFill>
          <a:ln/>
        </p:spPr>
      </p:sp>
      <p:sp>
        <p:nvSpPr>
          <p:cNvPr id="32" name="Text 29"/>
          <p:cNvSpPr txBox="1"/>
          <p:nvPr/>
        </p:nvSpPr>
        <p:spPr>
          <a:xfrm>
            <a:off x="4937760" y="932688"/>
            <a:ext cx="3639312" cy="1298448"/>
          </a:xfrm>
          <a:prstGeom prst="rect">
            <a:avLst/>
          </a:prstGeom>
          <a:noFill/>
          <a:ln/>
        </p:spPr>
        <p:txBody>
          <a:bodyPr wrap="square" lIns="0" tIns="0" rIns="0" bIns="0" rtlCol="0" anchor="ctr"/>
          <a:lstStyle/>
          <a:p>
            <a:pPr indent="0" marL="0">
              <a:spcAft>
                <a:spcPts val="400"/>
              </a:spcAft>
              <a:buNone/>
            </a:pPr>
            <a:r>
              <a:rPr lang="en-US" sz="1100" b="1" dirty="0">
                <a:solidFill>
                  <a:srgbClr val="C8892B"/>
                </a:solidFill>
              </a:rPr>
              <a:t>Research question  </a:t>
            </a:r>
            <a:pPr indent="0" marL="0">
              <a:spcAft>
                <a:spcPts val="400"/>
              </a:spcAft>
              <a:buNone/>
            </a:pPr>
            <a:r>
              <a:rPr lang="en-US" sz="1100" dirty="0">
                <a:solidFill>
                  <a:srgbClr val="1B2A41"/>
                </a:solidFill>
              </a:rPr>
              <a:t>How well can a JUDGEBERT-based model assess legal meaning preservation in Hindi and a new legal domain, and does it beat generic semantic similarity?</a:t>
            </a:r>
            <a:endParaRPr lang="en-US" sz="1100" dirty="0"/>
          </a:p>
          <a:p>
            <a:pPr indent="0" marL="0">
              <a:spcAft>
                <a:spcPts val="400"/>
              </a:spcAft>
              <a:buNone/>
            </a:pPr>
            <a:r>
              <a:rPr lang="en-US" sz="1000" b="1" dirty="0">
                <a:solidFill>
                  <a:srgbClr val="2A7F7A"/>
                </a:solidFill>
              </a:rPr>
              <a:t>Hypotheses  </a:t>
            </a:r>
            <a:pPr indent="0" marL="0">
              <a:spcAft>
                <a:spcPts val="400"/>
              </a:spcAft>
              <a:buNone/>
            </a:pPr>
            <a:r>
              <a:rPr lang="en-US" sz="1000" dirty="0">
                <a:solidFill>
                  <a:srgbClr val="2E4057"/>
                </a:solidFill>
              </a:rPr>
              <a:t>H1 legal-aware models beat generic similarity · H2 they transfer across language and domain · H3 augmentation anchors the 1–10 scale</a:t>
            </a:r>
            <a:endParaRPr lang="en-US" sz="1100" dirty="0"/>
          </a:p>
        </p:txBody>
      </p:sp>
      <p:sp>
        <p:nvSpPr>
          <p:cNvPr id="33" name="obj-dot-0"/>
          <p:cNvSpPr/>
          <p:nvPr/>
        </p:nvSpPr>
        <p:spPr>
          <a:xfrm>
            <a:off x="4800600" y="2395728"/>
            <a:ext cx="365760" cy="365760"/>
          </a:xfrm>
          <a:prstGeom prst="ellipse">
            <a:avLst/>
          </a:prstGeom>
          <a:solidFill>
            <a:srgbClr val="2A7F7A"/>
          </a:solidFill>
          <a:ln/>
        </p:spPr>
      </p:sp>
      <p:sp>
        <p:nvSpPr>
          <p:cNvPr id="34" name="Text 31"/>
          <p:cNvSpPr txBox="1"/>
          <p:nvPr/>
        </p:nvSpPr>
        <p:spPr>
          <a:xfrm>
            <a:off x="4800600" y="2395728"/>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rPr>
              <a:t>O1</a:t>
            </a:r>
            <a:endParaRPr lang="en-US" sz="1050" dirty="0"/>
          </a:p>
        </p:txBody>
      </p:sp>
      <p:sp>
        <p:nvSpPr>
          <p:cNvPr id="35" name="Text 32"/>
          <p:cNvSpPr txBox="1"/>
          <p:nvPr/>
        </p:nvSpPr>
        <p:spPr>
          <a:xfrm>
            <a:off x="5257800" y="2359152"/>
            <a:ext cx="3429000" cy="438912"/>
          </a:xfrm>
          <a:prstGeom prst="rect">
            <a:avLst/>
          </a:prstGeom>
          <a:noFill/>
          <a:ln/>
        </p:spPr>
        <p:txBody>
          <a:bodyPr wrap="square" lIns="0" tIns="0" rIns="0" bIns="0" rtlCol="0" anchor="ctr"/>
          <a:lstStyle/>
          <a:p>
            <a:pPr indent="0" marL="0">
              <a:buNone/>
            </a:pPr>
            <a:r>
              <a:rPr lang="en-US" sz="1100" dirty="0">
                <a:solidFill>
                  <a:schemeClr val="tx1"/>
                </a:solidFill>
              </a:rPr>
              <a:t>Build EnHi-LMP: ≥300 EN/HI pairs, 2 domains, rubric + double annotation</a:t>
            </a:r>
            <a:endParaRPr lang="en-US" sz="1100" dirty="0"/>
          </a:p>
        </p:txBody>
      </p:sp>
      <p:sp>
        <p:nvSpPr>
          <p:cNvPr id="36" name="obj-dot-1"/>
          <p:cNvSpPr/>
          <p:nvPr/>
        </p:nvSpPr>
        <p:spPr>
          <a:xfrm>
            <a:off x="4800600" y="2852928"/>
            <a:ext cx="365760" cy="365760"/>
          </a:xfrm>
          <a:prstGeom prst="ellipse">
            <a:avLst/>
          </a:prstGeom>
          <a:solidFill>
            <a:srgbClr val="2A7F7A"/>
          </a:solidFill>
          <a:ln/>
        </p:spPr>
      </p:sp>
      <p:sp>
        <p:nvSpPr>
          <p:cNvPr id="37" name="Text 34"/>
          <p:cNvSpPr txBox="1"/>
          <p:nvPr/>
        </p:nvSpPr>
        <p:spPr>
          <a:xfrm>
            <a:off x="4800600" y="2852928"/>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rPr>
              <a:t>O2</a:t>
            </a:r>
            <a:endParaRPr lang="en-US" sz="1050" dirty="0"/>
          </a:p>
        </p:txBody>
      </p:sp>
      <p:sp>
        <p:nvSpPr>
          <p:cNvPr id="38" name="Text 35"/>
          <p:cNvSpPr txBox="1"/>
          <p:nvPr/>
        </p:nvSpPr>
        <p:spPr>
          <a:xfrm>
            <a:off x="5257800" y="2816352"/>
            <a:ext cx="3429000" cy="438912"/>
          </a:xfrm>
          <a:prstGeom prst="rect">
            <a:avLst/>
          </a:prstGeom>
          <a:noFill/>
          <a:ln/>
        </p:spPr>
        <p:txBody>
          <a:bodyPr wrap="square" lIns="0" tIns="0" rIns="0" bIns="0" rtlCol="0" anchor="ctr"/>
          <a:lstStyle/>
          <a:p>
            <a:pPr indent="0" marL="0">
              <a:buNone/>
            </a:pPr>
            <a:r>
              <a:rPr lang="en-US" sz="1100" dirty="0">
                <a:solidFill>
                  <a:schemeClr val="tx1"/>
                </a:solidFill>
              </a:rPr>
              <a:t>Benchmark ≥2 generic similarity baselines, calibrated to 1–10</a:t>
            </a:r>
            <a:endParaRPr lang="en-US" sz="1100" dirty="0"/>
          </a:p>
        </p:txBody>
      </p:sp>
      <p:sp>
        <p:nvSpPr>
          <p:cNvPr id="39" name="obj-dot-2"/>
          <p:cNvSpPr/>
          <p:nvPr/>
        </p:nvSpPr>
        <p:spPr>
          <a:xfrm>
            <a:off x="4800600" y="3310128"/>
            <a:ext cx="365760" cy="365760"/>
          </a:xfrm>
          <a:prstGeom prst="ellipse">
            <a:avLst/>
          </a:prstGeom>
          <a:solidFill>
            <a:srgbClr val="C8892B"/>
          </a:solidFill>
          <a:ln/>
        </p:spPr>
      </p:sp>
      <p:sp>
        <p:nvSpPr>
          <p:cNvPr id="40" name="Text 37"/>
          <p:cNvSpPr txBox="1"/>
          <p:nvPr/>
        </p:nvSpPr>
        <p:spPr>
          <a:xfrm>
            <a:off x="4800600" y="3310128"/>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rPr>
              <a:t>O3</a:t>
            </a:r>
            <a:endParaRPr lang="en-US" sz="1050" dirty="0"/>
          </a:p>
        </p:txBody>
      </p:sp>
      <p:sp>
        <p:nvSpPr>
          <p:cNvPr id="41" name="Text 38"/>
          <p:cNvSpPr txBox="1"/>
          <p:nvPr/>
        </p:nvSpPr>
        <p:spPr>
          <a:xfrm>
            <a:off x="5257800" y="3273552"/>
            <a:ext cx="3429000" cy="438912"/>
          </a:xfrm>
          <a:prstGeom prst="rect">
            <a:avLst/>
          </a:prstGeom>
          <a:noFill/>
          <a:ln/>
        </p:spPr>
        <p:txBody>
          <a:bodyPr wrap="square" lIns="0" tIns="0" rIns="0" bIns="0" rtlCol="0" anchor="ctr"/>
          <a:lstStyle/>
          <a:p>
            <a:pPr indent="0" marL="0">
              <a:buNone/>
            </a:pPr>
            <a:r>
              <a:rPr lang="en-US" sz="1100" dirty="0">
                <a:solidFill>
                  <a:schemeClr val="tx1"/>
                </a:solidFill>
              </a:rPr>
              <a:t>Train a multilingual JUDGEBERT-style regressor with LegalDiff fusion</a:t>
            </a:r>
            <a:endParaRPr lang="en-US" sz="1100" dirty="0"/>
          </a:p>
        </p:txBody>
      </p:sp>
      <p:sp>
        <p:nvSpPr>
          <p:cNvPr id="42" name="obj-dot-3"/>
          <p:cNvSpPr/>
          <p:nvPr/>
        </p:nvSpPr>
        <p:spPr>
          <a:xfrm>
            <a:off x="4800600" y="3767328"/>
            <a:ext cx="365760" cy="365760"/>
          </a:xfrm>
          <a:prstGeom prst="ellipse">
            <a:avLst/>
          </a:prstGeom>
          <a:solidFill>
            <a:srgbClr val="2A7F7A"/>
          </a:solidFill>
          <a:ln/>
        </p:spPr>
      </p:sp>
      <p:sp>
        <p:nvSpPr>
          <p:cNvPr id="43" name="Text 40"/>
          <p:cNvSpPr txBox="1"/>
          <p:nvPr/>
        </p:nvSpPr>
        <p:spPr>
          <a:xfrm>
            <a:off x="4800600" y="3767328"/>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rPr>
              <a:t>O4</a:t>
            </a:r>
            <a:endParaRPr lang="en-US" sz="1050" dirty="0"/>
          </a:p>
        </p:txBody>
      </p:sp>
      <p:sp>
        <p:nvSpPr>
          <p:cNvPr id="44" name="Text 41"/>
          <p:cNvSpPr txBox="1"/>
          <p:nvPr/>
        </p:nvSpPr>
        <p:spPr>
          <a:xfrm>
            <a:off x="5257800" y="3730752"/>
            <a:ext cx="3429000" cy="438912"/>
          </a:xfrm>
          <a:prstGeom prst="rect">
            <a:avLst/>
          </a:prstGeom>
          <a:noFill/>
          <a:ln/>
        </p:spPr>
        <p:txBody>
          <a:bodyPr wrap="square" lIns="0" tIns="0" rIns="0" bIns="0" rtlCol="0" anchor="ctr"/>
          <a:lstStyle/>
          <a:p>
            <a:pPr indent="0" marL="0">
              <a:buNone/>
            </a:pPr>
            <a:r>
              <a:rPr lang="en-US" sz="1100" dirty="0">
                <a:solidFill>
                  <a:schemeClr val="tx1"/>
                </a:solidFill>
              </a:rPr>
              <a:t>Test transfer: EN↔HI, insurance↔tenancy, EnHi→FrJUDGE; sanity checks</a:t>
            </a:r>
            <a:endParaRPr lang="en-US" sz="1100" dirty="0"/>
          </a:p>
        </p:txBody>
      </p:sp>
      <p:sp>
        <p:nvSpPr>
          <p:cNvPr id="45" name="obj-dot-4"/>
          <p:cNvSpPr/>
          <p:nvPr/>
        </p:nvSpPr>
        <p:spPr>
          <a:xfrm>
            <a:off x="4800600" y="4224528"/>
            <a:ext cx="365760" cy="365760"/>
          </a:xfrm>
          <a:prstGeom prst="ellipse">
            <a:avLst/>
          </a:prstGeom>
          <a:solidFill>
            <a:srgbClr val="2A7F7A"/>
          </a:solidFill>
          <a:ln/>
        </p:spPr>
      </p:sp>
      <p:sp>
        <p:nvSpPr>
          <p:cNvPr id="46" name="Text 43"/>
          <p:cNvSpPr txBox="1"/>
          <p:nvPr/>
        </p:nvSpPr>
        <p:spPr>
          <a:xfrm>
            <a:off x="4800600" y="4224528"/>
            <a:ext cx="365760" cy="365760"/>
          </a:xfrm>
          <a:prstGeom prst="rect">
            <a:avLst/>
          </a:prstGeom>
          <a:noFill/>
          <a:ln/>
        </p:spPr>
        <p:txBody>
          <a:bodyPr wrap="square" lIns="0" tIns="0" rIns="0" bIns="0" rtlCol="0" anchor="ctr"/>
          <a:lstStyle/>
          <a:p>
            <a:pPr algn="ctr" indent="0" marL="0">
              <a:buNone/>
            </a:pPr>
            <a:r>
              <a:rPr lang="en-US" sz="1050" b="1" dirty="0">
                <a:solidFill>
                  <a:srgbClr val="FFFFFF"/>
                </a:solidFill>
              </a:rPr>
              <a:t>O5</a:t>
            </a:r>
            <a:endParaRPr lang="en-US" sz="1050" dirty="0"/>
          </a:p>
        </p:txBody>
      </p:sp>
      <p:sp>
        <p:nvSpPr>
          <p:cNvPr id="47" name="Text 44"/>
          <p:cNvSpPr txBox="1"/>
          <p:nvPr/>
        </p:nvSpPr>
        <p:spPr>
          <a:xfrm>
            <a:off x="5257800" y="4187952"/>
            <a:ext cx="3429000" cy="438912"/>
          </a:xfrm>
          <a:prstGeom prst="rect">
            <a:avLst/>
          </a:prstGeom>
          <a:noFill/>
          <a:ln/>
        </p:spPr>
        <p:txBody>
          <a:bodyPr wrap="square" lIns="0" tIns="0" rIns="0" bIns="0" rtlCol="0" anchor="ctr"/>
          <a:lstStyle/>
          <a:p>
            <a:pPr indent="0" marL="0">
              <a:buNone/>
            </a:pPr>
            <a:r>
              <a:rPr lang="en-US" sz="1100" dirty="0">
                <a:solidFill>
                  <a:schemeClr val="tx1"/>
                </a:solidFill>
              </a:rPr>
              <a:t>Explain each score: decision, legal error type, rationale (P / R / F1)</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Methodology: data, model and training</a:t>
            </a:r>
            <a:endParaRPr lang="en-US" sz="2800" dirty="0"/>
          </a:p>
        </p:txBody>
      </p:sp>
      <p:sp>
        <p:nvSpPr>
          <p:cNvPr id="3" name="a-in"/>
          <p:cNvSpPr/>
          <p:nvPr/>
        </p:nvSpPr>
        <p:spPr>
          <a:xfrm>
            <a:off x="457200" y="896112"/>
            <a:ext cx="1280160" cy="731520"/>
          </a:xfrm>
          <a:prstGeom prst="roundRect">
            <a:avLst>
              <a:gd name="adj" fmla="val 10000"/>
            </a:avLst>
          </a:prstGeom>
          <a:solidFill>
            <a:schemeClr val="bg2"/>
          </a:solidFill>
          <a:ln/>
        </p:spPr>
      </p:sp>
      <p:sp>
        <p:nvSpPr>
          <p:cNvPr id="4" name="Text 2"/>
          <p:cNvSpPr txBox="1"/>
          <p:nvPr/>
        </p:nvSpPr>
        <p:spPr>
          <a:xfrm>
            <a:off x="512064" y="941832"/>
            <a:ext cx="1170432" cy="228600"/>
          </a:xfrm>
          <a:prstGeom prst="rect">
            <a:avLst/>
          </a:prstGeom>
          <a:noFill/>
          <a:ln/>
        </p:spPr>
        <p:txBody>
          <a:bodyPr wrap="square" lIns="0" tIns="0" rIns="0" bIns="0" rtlCol="0" anchor="ctr"/>
          <a:lstStyle/>
          <a:p>
            <a:pPr algn="ctr" indent="0" marL="0">
              <a:buNone/>
            </a:pPr>
            <a:r>
              <a:rPr lang="en-US" sz="1050" b="1" dirty="0">
                <a:solidFill>
                  <a:srgbClr val="1B2A41"/>
                </a:solidFill>
              </a:rPr>
              <a:t>Input pair</a:t>
            </a:r>
            <a:endParaRPr lang="en-US" sz="1050" dirty="0"/>
          </a:p>
        </p:txBody>
      </p:sp>
      <p:sp>
        <p:nvSpPr>
          <p:cNvPr id="5" name="Text 3"/>
          <p:cNvSpPr txBox="1"/>
          <p:nvPr/>
        </p:nvSpPr>
        <p:spPr>
          <a:xfrm>
            <a:off x="512064" y="1170432"/>
            <a:ext cx="1170432" cy="429768"/>
          </a:xfrm>
          <a:prstGeom prst="rect">
            <a:avLst/>
          </a:prstGeom>
          <a:noFill/>
          <a:ln/>
        </p:spPr>
        <p:txBody>
          <a:bodyPr wrap="square" lIns="0" tIns="0" rIns="0" bIns="0" rtlCol="0" anchor="t"/>
          <a:lstStyle/>
          <a:p>
            <a:pPr algn="ctr" indent="0" marL="0">
              <a:buNone/>
            </a:pPr>
            <a:r>
              <a:rPr lang="en-US" sz="1000" dirty="0">
                <a:solidFill>
                  <a:srgbClr val="2E4057"/>
                </a:solidFill>
              </a:rPr>
              <a:t>original o</a:t>
            </a:r>
            <a:endParaRPr lang="en-US" sz="1000" dirty="0"/>
          </a:p>
          <a:p>
            <a:pPr algn="ctr" indent="0" marL="0">
              <a:buNone/>
            </a:pPr>
            <a:r>
              <a:rPr lang="en-US" sz="1000" dirty="0">
                <a:solidFill>
                  <a:srgbClr val="2E4057"/>
                </a:solidFill>
              </a:rPr>
              <a:t>simplification s</a:t>
            </a:r>
            <a:endParaRPr lang="en-US" sz="1000" dirty="0"/>
          </a:p>
        </p:txBody>
      </p:sp>
      <p:sp>
        <p:nvSpPr>
          <p:cNvPr id="6" name="a-tok"/>
          <p:cNvSpPr/>
          <p:nvPr/>
        </p:nvSpPr>
        <p:spPr>
          <a:xfrm>
            <a:off x="1965960" y="896112"/>
            <a:ext cx="1463040" cy="731520"/>
          </a:xfrm>
          <a:prstGeom prst="roundRect">
            <a:avLst>
              <a:gd name="adj" fmla="val 10000"/>
            </a:avLst>
          </a:prstGeom>
          <a:solidFill>
            <a:schemeClr val="bg2"/>
          </a:solidFill>
          <a:ln/>
        </p:spPr>
      </p:sp>
      <p:sp>
        <p:nvSpPr>
          <p:cNvPr id="7" name="Text 5"/>
          <p:cNvSpPr txBox="1"/>
          <p:nvPr/>
        </p:nvSpPr>
        <p:spPr>
          <a:xfrm>
            <a:off x="2020824" y="941832"/>
            <a:ext cx="1353312" cy="228600"/>
          </a:xfrm>
          <a:prstGeom prst="rect">
            <a:avLst/>
          </a:prstGeom>
          <a:noFill/>
          <a:ln/>
        </p:spPr>
        <p:txBody>
          <a:bodyPr wrap="square" lIns="0" tIns="0" rIns="0" bIns="0" rtlCol="0" anchor="ctr"/>
          <a:lstStyle/>
          <a:p>
            <a:pPr algn="ctr" indent="0" marL="0">
              <a:buNone/>
            </a:pPr>
            <a:r>
              <a:rPr lang="en-US" sz="1050" b="1" dirty="0">
                <a:solidFill>
                  <a:srgbClr val="1B2A41"/>
                </a:solidFill>
              </a:rPr>
              <a:t>Cross-encoding</a:t>
            </a:r>
            <a:endParaRPr lang="en-US" sz="1050" dirty="0"/>
          </a:p>
        </p:txBody>
      </p:sp>
      <p:sp>
        <p:nvSpPr>
          <p:cNvPr id="8" name="Text 6"/>
          <p:cNvSpPr txBox="1"/>
          <p:nvPr/>
        </p:nvSpPr>
        <p:spPr>
          <a:xfrm>
            <a:off x="2020824" y="1170432"/>
            <a:ext cx="1353312" cy="429768"/>
          </a:xfrm>
          <a:prstGeom prst="rect">
            <a:avLst/>
          </a:prstGeom>
          <a:noFill/>
          <a:ln/>
        </p:spPr>
        <p:txBody>
          <a:bodyPr wrap="square" lIns="0" tIns="0" rIns="0" bIns="0" rtlCol="0" anchor="t"/>
          <a:lstStyle/>
          <a:p>
            <a:pPr algn="ctr" indent="0" marL="0">
              <a:buNone/>
            </a:pPr>
            <a:r>
              <a:rPr lang="en-US" sz="1000" dirty="0">
                <a:solidFill>
                  <a:srgbClr val="2E4057"/>
                </a:solidFill>
              </a:rPr>
              <a:t>[CLS] o [SEP] s [SEP]</a:t>
            </a:r>
            <a:endParaRPr lang="en-US" sz="1000" dirty="0"/>
          </a:p>
          <a:p>
            <a:pPr algn="ctr" indent="0" marL="0">
              <a:buNone/>
            </a:pPr>
            <a:r>
              <a:rPr lang="en-US" sz="1000" dirty="0">
                <a:solidFill>
                  <a:srgbClr val="2E4057"/>
                </a:solidFill>
              </a:rPr>
              <a:t>shared EN/HI BPE</a:t>
            </a:r>
            <a:endParaRPr lang="en-US" sz="1000" dirty="0"/>
          </a:p>
        </p:txBody>
      </p:sp>
      <p:sp>
        <p:nvSpPr>
          <p:cNvPr id="9" name="a-enc"/>
          <p:cNvSpPr/>
          <p:nvPr/>
        </p:nvSpPr>
        <p:spPr>
          <a:xfrm>
            <a:off x="3657600" y="896112"/>
            <a:ext cx="1600200" cy="731520"/>
          </a:xfrm>
          <a:prstGeom prst="roundRect">
            <a:avLst>
              <a:gd name="adj" fmla="val 10000"/>
            </a:avLst>
          </a:prstGeom>
          <a:solidFill>
            <a:srgbClr val="FBF3E6"/>
          </a:solidFill>
          <a:ln/>
        </p:spPr>
      </p:sp>
      <p:sp>
        <p:nvSpPr>
          <p:cNvPr id="10" name="Text 8"/>
          <p:cNvSpPr txBox="1"/>
          <p:nvPr/>
        </p:nvSpPr>
        <p:spPr>
          <a:xfrm>
            <a:off x="3712464" y="941832"/>
            <a:ext cx="1490472" cy="228600"/>
          </a:xfrm>
          <a:prstGeom prst="rect">
            <a:avLst/>
          </a:prstGeom>
          <a:noFill/>
          <a:ln/>
        </p:spPr>
        <p:txBody>
          <a:bodyPr wrap="square" lIns="0" tIns="0" rIns="0" bIns="0" rtlCol="0" anchor="ctr"/>
          <a:lstStyle/>
          <a:p>
            <a:pPr algn="ctr" indent="0" marL="0">
              <a:buNone/>
            </a:pPr>
            <a:r>
              <a:rPr lang="en-US" sz="1050" b="1" dirty="0">
                <a:solidFill>
                  <a:srgbClr val="C8892B"/>
                </a:solidFill>
              </a:rPr>
              <a:t>Transformer encoder</a:t>
            </a:r>
            <a:endParaRPr lang="en-US" sz="1050" dirty="0"/>
          </a:p>
        </p:txBody>
      </p:sp>
      <p:sp>
        <p:nvSpPr>
          <p:cNvPr id="11" name="Text 9"/>
          <p:cNvSpPr txBox="1"/>
          <p:nvPr/>
        </p:nvSpPr>
        <p:spPr>
          <a:xfrm>
            <a:off x="3712464" y="1170432"/>
            <a:ext cx="1490472" cy="429768"/>
          </a:xfrm>
          <a:prstGeom prst="rect">
            <a:avLst/>
          </a:prstGeom>
          <a:noFill/>
          <a:ln/>
        </p:spPr>
        <p:txBody>
          <a:bodyPr wrap="square" lIns="0" tIns="0" rIns="0" bIns="0" rtlCol="0" anchor="t"/>
          <a:lstStyle/>
          <a:p>
            <a:pPr algn="ctr" indent="0" marL="0">
              <a:buNone/>
            </a:pPr>
            <a:r>
              <a:rPr lang="en-US" sz="1000" dirty="0">
                <a:solidFill>
                  <a:srgbClr val="2E4057"/>
                </a:solidFill>
              </a:rPr>
              <a:t>self-attention across o and s</a:t>
            </a:r>
            <a:endParaRPr lang="en-US" sz="1000" dirty="0"/>
          </a:p>
        </p:txBody>
      </p:sp>
      <p:sp>
        <p:nvSpPr>
          <p:cNvPr id="12" name="a-pool"/>
          <p:cNvSpPr/>
          <p:nvPr/>
        </p:nvSpPr>
        <p:spPr>
          <a:xfrm>
            <a:off x="5486400" y="896112"/>
            <a:ext cx="1280160" cy="731520"/>
          </a:xfrm>
          <a:prstGeom prst="roundRect">
            <a:avLst>
              <a:gd name="adj" fmla="val 10000"/>
            </a:avLst>
          </a:prstGeom>
          <a:solidFill>
            <a:schemeClr val="bg2"/>
          </a:solidFill>
          <a:ln/>
        </p:spPr>
      </p:sp>
      <p:sp>
        <p:nvSpPr>
          <p:cNvPr id="13" name="Text 11"/>
          <p:cNvSpPr txBox="1"/>
          <p:nvPr/>
        </p:nvSpPr>
        <p:spPr>
          <a:xfrm>
            <a:off x="5541264" y="941832"/>
            <a:ext cx="1170432" cy="228600"/>
          </a:xfrm>
          <a:prstGeom prst="rect">
            <a:avLst/>
          </a:prstGeom>
          <a:noFill/>
          <a:ln/>
        </p:spPr>
        <p:txBody>
          <a:bodyPr wrap="square" lIns="0" tIns="0" rIns="0" bIns="0" rtlCol="0" anchor="ctr"/>
          <a:lstStyle/>
          <a:p>
            <a:pPr algn="ctr" indent="0" marL="0">
              <a:buNone/>
            </a:pPr>
            <a:r>
              <a:rPr lang="en-US" sz="1050" b="1" dirty="0">
                <a:solidFill>
                  <a:srgbClr val="1B2A41"/>
                </a:solidFill>
              </a:rPr>
              <a:t>Pooling</a:t>
            </a:r>
            <a:endParaRPr lang="en-US" sz="1050" dirty="0"/>
          </a:p>
        </p:txBody>
      </p:sp>
      <p:sp>
        <p:nvSpPr>
          <p:cNvPr id="14" name="Text 12"/>
          <p:cNvSpPr txBox="1"/>
          <p:nvPr/>
        </p:nvSpPr>
        <p:spPr>
          <a:xfrm>
            <a:off x="5541264" y="1170432"/>
            <a:ext cx="1170432" cy="429768"/>
          </a:xfrm>
          <a:prstGeom prst="rect">
            <a:avLst/>
          </a:prstGeom>
          <a:noFill/>
          <a:ln/>
        </p:spPr>
        <p:txBody>
          <a:bodyPr wrap="square" lIns="0" tIns="0" rIns="0" bIns="0" rtlCol="0" anchor="t"/>
          <a:lstStyle/>
          <a:p>
            <a:pPr algn="ctr" indent="0" marL="0">
              <a:buNone/>
            </a:pPr>
            <a:r>
              <a:rPr lang="en-US" sz="1000" dirty="0">
                <a:solidFill>
                  <a:srgbClr val="2E4057"/>
                </a:solidFill>
              </a:rPr>
              <a:t>h_CLS, u−v, u⊙v, |u−v|</a:t>
            </a:r>
            <a:endParaRPr lang="en-US" sz="1000" dirty="0"/>
          </a:p>
        </p:txBody>
      </p:sp>
      <p:sp>
        <p:nvSpPr>
          <p:cNvPr id="15" name="a-ld"/>
          <p:cNvSpPr/>
          <p:nvPr/>
        </p:nvSpPr>
        <p:spPr>
          <a:xfrm>
            <a:off x="1965960" y="1828800"/>
            <a:ext cx="4800600" cy="566928"/>
          </a:xfrm>
          <a:prstGeom prst="roundRect">
            <a:avLst>
              <a:gd name="adj" fmla="val 12903"/>
            </a:avLst>
          </a:prstGeom>
          <a:solidFill>
            <a:srgbClr val="E3F0EE"/>
          </a:solidFill>
          <a:ln/>
        </p:spPr>
      </p:sp>
      <p:sp>
        <p:nvSpPr>
          <p:cNvPr id="16" name="Text 14"/>
          <p:cNvSpPr txBox="1"/>
          <p:nvPr/>
        </p:nvSpPr>
        <p:spPr>
          <a:xfrm>
            <a:off x="2020824" y="1874520"/>
            <a:ext cx="4690872" cy="228600"/>
          </a:xfrm>
          <a:prstGeom prst="rect">
            <a:avLst/>
          </a:prstGeom>
          <a:noFill/>
          <a:ln/>
        </p:spPr>
        <p:txBody>
          <a:bodyPr wrap="square" lIns="0" tIns="0" rIns="0" bIns="0" rtlCol="0" anchor="ctr"/>
          <a:lstStyle/>
          <a:p>
            <a:pPr algn="ctr" indent="0" marL="0">
              <a:buNone/>
            </a:pPr>
            <a:r>
              <a:rPr lang="en-US" sz="1050" b="1" dirty="0">
                <a:solidFill>
                  <a:srgbClr val="2A7F7A"/>
                </a:solidFill>
              </a:rPr>
              <a:t>LegalDiff extractor (EN / HI lexicons) → 19 features</a:t>
            </a:r>
            <a:endParaRPr lang="en-US" sz="1050" dirty="0"/>
          </a:p>
        </p:txBody>
      </p:sp>
      <p:sp>
        <p:nvSpPr>
          <p:cNvPr id="17" name="Text 15"/>
          <p:cNvSpPr txBox="1"/>
          <p:nvPr/>
        </p:nvSpPr>
        <p:spPr>
          <a:xfrm>
            <a:off x="2020824" y="2103120"/>
            <a:ext cx="4690872" cy="265176"/>
          </a:xfrm>
          <a:prstGeom prst="rect">
            <a:avLst/>
          </a:prstGeom>
          <a:noFill/>
          <a:ln/>
        </p:spPr>
        <p:txBody>
          <a:bodyPr wrap="square" lIns="0" tIns="0" rIns="0" bIns="0" rtlCol="0" anchor="t"/>
          <a:lstStyle/>
          <a:p>
            <a:pPr algn="ctr" indent="0" marL="0">
              <a:buNone/>
            </a:pPr>
            <a:r>
              <a:rPr lang="en-US" sz="1000" dirty="0">
                <a:solidFill>
                  <a:srgbClr val="2E4057"/>
                </a:solidFill>
              </a:rPr>
              <a:t>modality · negation · numbers · durations · parties · conditions · exceptions · scope</a:t>
            </a:r>
            <a:endParaRPr lang="en-US" sz="1000" dirty="0"/>
          </a:p>
        </p:txBody>
      </p:sp>
      <p:sp>
        <p:nvSpPr>
          <p:cNvPr id="18" name="a-fuse"/>
          <p:cNvSpPr/>
          <p:nvPr/>
        </p:nvSpPr>
        <p:spPr>
          <a:xfrm>
            <a:off x="6995160" y="896112"/>
            <a:ext cx="1691640" cy="1499616"/>
          </a:xfrm>
          <a:prstGeom prst="roundRect">
            <a:avLst>
              <a:gd name="adj" fmla="val 4878"/>
            </a:avLst>
          </a:prstGeom>
          <a:solidFill>
            <a:schemeClr val="tx1"/>
          </a:solidFill>
          <a:ln/>
        </p:spPr>
      </p:sp>
      <p:sp>
        <p:nvSpPr>
          <p:cNvPr id="19" name="Text 17"/>
          <p:cNvSpPr txBox="1"/>
          <p:nvPr/>
        </p:nvSpPr>
        <p:spPr>
          <a:xfrm>
            <a:off x="7059168" y="941832"/>
            <a:ext cx="1572768" cy="1417320"/>
          </a:xfrm>
          <a:prstGeom prst="rect">
            <a:avLst/>
          </a:prstGeom>
          <a:noFill/>
          <a:ln/>
        </p:spPr>
        <p:txBody>
          <a:bodyPr wrap="square" lIns="0" tIns="0" rIns="0" bIns="0" rtlCol="0" anchor="ctr"/>
          <a:lstStyle/>
          <a:p>
            <a:pPr algn="ctr" indent="0" marL="0">
              <a:spcAft>
                <a:spcPts val="300"/>
              </a:spcAft>
              <a:buNone/>
            </a:pPr>
            <a:r>
              <a:rPr lang="en-US" sz="1000" b="1" dirty="0">
                <a:solidFill>
                  <a:srgbClr val="C8892B"/>
                </a:solidFill>
              </a:rPr>
              <a:t>Fusion head</a:t>
            </a:r>
            <a:endParaRPr lang="en-US" sz="1000" dirty="0"/>
          </a:p>
          <a:p>
            <a:pPr algn="ctr" indent="0" marL="0">
              <a:spcAft>
                <a:spcPts val="300"/>
              </a:spcAft>
              <a:buNone/>
            </a:pPr>
            <a:r>
              <a:rPr lang="en-US" sz="1000" b="1" dirty="0">
                <a:solidFill>
                  <a:srgbClr val="FFFFFF"/>
                </a:solidFill>
              </a:rPr>
              <a:t>MLP → ŷ = 1 + 9·σ(z)</a:t>
            </a:r>
            <a:endParaRPr lang="en-US" sz="1000" dirty="0"/>
          </a:p>
          <a:p>
            <a:pPr algn="ctr" indent="0" marL="0">
              <a:spcAft>
                <a:spcPts val="300"/>
              </a:spcAft>
              <a:buNone/>
            </a:pPr>
            <a:r>
              <a:rPr lang="en-US" sz="1000" dirty="0">
                <a:solidFill>
                  <a:srgbClr val="FFFFFF"/>
                </a:solidFill>
              </a:rPr>
              <a:t>δ(ŷ) → decision</a:t>
            </a:r>
            <a:endParaRPr lang="en-US" sz="1000" dirty="0"/>
          </a:p>
          <a:p>
            <a:pPr algn="ctr" indent="0" marL="0">
              <a:spcAft>
                <a:spcPts val="300"/>
              </a:spcAft>
              <a:buNone/>
            </a:pPr>
            <a:r>
              <a:rPr lang="en-US" sz="1000" dirty="0">
                <a:solidFill>
                  <a:srgbClr val="FFFFFF"/>
                </a:solidFill>
              </a:rPr>
              <a:t>explainer → type + reason</a:t>
            </a:r>
            <a:endParaRPr lang="en-US" sz="1000" dirty="0"/>
          </a:p>
        </p:txBody>
      </p:sp>
      <p:sp>
        <p:nvSpPr>
          <p:cNvPr id="20" name="ar1"/>
          <p:cNvSpPr/>
          <p:nvPr/>
        </p:nvSpPr>
        <p:spPr>
          <a:xfrm>
            <a:off x="1737360" y="1261872"/>
            <a:ext cx="228600" cy="914"/>
          </a:xfrm>
          <a:prstGeom prst="line">
            <a:avLst/>
          </a:prstGeom>
          <a:noFill/>
          <a:ln w="19050">
            <a:solidFill>
              <a:srgbClr val="8E9AAF"/>
            </a:solidFill>
            <a:prstDash val="solid"/>
            <a:tailEnd type="triangle"/>
          </a:ln>
        </p:spPr>
      </p:sp>
      <p:sp>
        <p:nvSpPr>
          <p:cNvPr id="21" name="ar2"/>
          <p:cNvSpPr/>
          <p:nvPr/>
        </p:nvSpPr>
        <p:spPr>
          <a:xfrm>
            <a:off x="3429000" y="1261872"/>
            <a:ext cx="228600" cy="914"/>
          </a:xfrm>
          <a:prstGeom prst="line">
            <a:avLst/>
          </a:prstGeom>
          <a:noFill/>
          <a:ln w="19050">
            <a:solidFill>
              <a:srgbClr val="8E9AAF"/>
            </a:solidFill>
            <a:prstDash val="solid"/>
            <a:tailEnd type="triangle"/>
          </a:ln>
        </p:spPr>
      </p:sp>
      <p:sp>
        <p:nvSpPr>
          <p:cNvPr id="22" name="ar3"/>
          <p:cNvSpPr/>
          <p:nvPr/>
        </p:nvSpPr>
        <p:spPr>
          <a:xfrm>
            <a:off x="5257800" y="1261872"/>
            <a:ext cx="228600" cy="914"/>
          </a:xfrm>
          <a:prstGeom prst="line">
            <a:avLst/>
          </a:prstGeom>
          <a:noFill/>
          <a:ln w="19050">
            <a:solidFill>
              <a:srgbClr val="8E9AAF"/>
            </a:solidFill>
            <a:prstDash val="solid"/>
            <a:tailEnd type="triangle"/>
          </a:ln>
        </p:spPr>
      </p:sp>
      <p:sp>
        <p:nvSpPr>
          <p:cNvPr id="23" name="ar4"/>
          <p:cNvSpPr/>
          <p:nvPr/>
        </p:nvSpPr>
        <p:spPr>
          <a:xfrm>
            <a:off x="6766560" y="1261872"/>
            <a:ext cx="228600" cy="914"/>
          </a:xfrm>
          <a:prstGeom prst="line">
            <a:avLst/>
          </a:prstGeom>
          <a:noFill/>
          <a:ln w="19050">
            <a:solidFill>
              <a:srgbClr val="8E9AAF"/>
            </a:solidFill>
            <a:prstDash val="solid"/>
            <a:tailEnd type="triangle"/>
          </a:ln>
        </p:spPr>
      </p:sp>
      <p:sp>
        <p:nvSpPr>
          <p:cNvPr id="24" name="ar5a"/>
          <p:cNvSpPr/>
          <p:nvPr/>
        </p:nvSpPr>
        <p:spPr>
          <a:xfrm>
            <a:off x="1097280" y="1627632"/>
            <a:ext cx="914" cy="484632"/>
          </a:xfrm>
          <a:prstGeom prst="line">
            <a:avLst/>
          </a:prstGeom>
          <a:noFill/>
          <a:ln w="19050">
            <a:solidFill>
              <a:srgbClr val="8E9AAF"/>
            </a:solidFill>
            <a:prstDash val="solid"/>
          </a:ln>
        </p:spPr>
      </p:sp>
      <p:sp>
        <p:nvSpPr>
          <p:cNvPr id="25" name="ar5b"/>
          <p:cNvSpPr/>
          <p:nvPr/>
        </p:nvSpPr>
        <p:spPr>
          <a:xfrm>
            <a:off x="1097280" y="2112264"/>
            <a:ext cx="868680" cy="914"/>
          </a:xfrm>
          <a:prstGeom prst="line">
            <a:avLst/>
          </a:prstGeom>
          <a:noFill/>
          <a:ln w="19050">
            <a:solidFill>
              <a:srgbClr val="8E9AAF"/>
            </a:solidFill>
            <a:prstDash val="solid"/>
            <a:tailEnd type="triangle"/>
          </a:ln>
        </p:spPr>
      </p:sp>
      <p:sp>
        <p:nvSpPr>
          <p:cNvPr id="26" name="ar6"/>
          <p:cNvSpPr/>
          <p:nvPr/>
        </p:nvSpPr>
        <p:spPr>
          <a:xfrm>
            <a:off x="6766560" y="2112264"/>
            <a:ext cx="228600" cy="914"/>
          </a:xfrm>
          <a:prstGeom prst="line">
            <a:avLst/>
          </a:prstGeom>
          <a:noFill/>
          <a:ln w="19050">
            <a:solidFill>
              <a:srgbClr val="8E9AAF"/>
            </a:solidFill>
            <a:prstDash val="solid"/>
            <a:tailEnd type="triangle"/>
          </a:ln>
        </p:spPr>
      </p:sp>
      <p:sp>
        <p:nvSpPr>
          <p:cNvPr id="27" name="mcol-0"/>
          <p:cNvSpPr/>
          <p:nvPr/>
        </p:nvSpPr>
        <p:spPr>
          <a:xfrm>
            <a:off x="457200" y="2606040"/>
            <a:ext cx="2651760" cy="2029968"/>
          </a:xfrm>
          <a:prstGeom prst="roundRect">
            <a:avLst>
              <a:gd name="adj" fmla="val 3604"/>
            </a:avLst>
          </a:prstGeom>
          <a:solidFill>
            <a:schemeClr val="bg2"/>
          </a:solidFill>
          <a:ln/>
        </p:spPr>
      </p:sp>
      <p:sp>
        <p:nvSpPr>
          <p:cNvPr id="28" name="Text 26"/>
          <p:cNvSpPr txBox="1"/>
          <p:nvPr/>
        </p:nvSpPr>
        <p:spPr>
          <a:xfrm>
            <a:off x="585216" y="2670048"/>
            <a:ext cx="2423160" cy="274320"/>
          </a:xfrm>
          <a:prstGeom prst="rect">
            <a:avLst/>
          </a:prstGeom>
          <a:noFill/>
          <a:ln/>
        </p:spPr>
        <p:txBody>
          <a:bodyPr wrap="square" lIns="0" tIns="0" rIns="0" bIns="0" rtlCol="0" anchor="ctr"/>
          <a:lstStyle/>
          <a:p>
            <a:pPr indent="0" marL="0">
              <a:buNone/>
            </a:pPr>
            <a:r>
              <a:rPr lang="en-US" sz="1200" b="1" dirty="0">
                <a:solidFill>
                  <a:srgbClr val="2A7F7A"/>
                </a:solidFill>
              </a:rPr>
              <a:t>EnHi-LMP dataset</a:t>
            </a:r>
            <a:endParaRPr lang="en-US" sz="1200" dirty="0"/>
          </a:p>
        </p:txBody>
      </p:sp>
      <p:sp>
        <p:nvSpPr>
          <p:cNvPr id="29" name="Text 27"/>
          <p:cNvSpPr txBox="1"/>
          <p:nvPr/>
        </p:nvSpPr>
        <p:spPr>
          <a:xfrm>
            <a:off x="585216" y="3017520"/>
            <a:ext cx="2468880" cy="1572768"/>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rgbClr val="1B2A41"/>
                </a:solidFill>
              </a:rPr>
              <a:t>80 clauses: 40 insurance, 40 tenancy</a:t>
            </a:r>
            <a:endParaRPr lang="en-US" sz="1150" dirty="0"/>
          </a:p>
          <a:p>
            <a:pPr marL="127000" indent="-127000">
              <a:spcAft>
                <a:spcPts val="600"/>
              </a:spcAft>
              <a:buSzPct val="100000"/>
              <a:buChar char="•"/>
            </a:pPr>
            <a:r>
              <a:rPr lang="en-US" sz="1150" dirty="0">
                <a:solidFill>
                  <a:srgbClr val="1B2A41"/>
                </a:solidFill>
              </a:rPr>
              <a:t>× EN + parallel HI × (faithful, 1-error)</a:t>
            </a:r>
            <a:endParaRPr lang="en-US" sz="1150" dirty="0"/>
          </a:p>
          <a:p>
            <a:pPr marL="127000" indent="-127000">
              <a:spcAft>
                <a:spcPts val="600"/>
              </a:spcAft>
              <a:buSzPct val="100000"/>
              <a:buChar char="•"/>
            </a:pPr>
            <a:r>
              <a:rPr lang="en-US" sz="1150" dirty="0">
                <a:solidFill>
                  <a:srgbClr val="1B2A41"/>
                </a:solidFill>
              </a:rPr>
              <a:t>= 320 pairs; 10 error types</a:t>
            </a:r>
            <a:endParaRPr lang="en-US" sz="1150" dirty="0"/>
          </a:p>
          <a:p>
            <a:pPr marL="127000" indent="-127000">
              <a:spcAft>
                <a:spcPts val="600"/>
              </a:spcAft>
              <a:buSzPct val="100000"/>
              <a:buChar char="•"/>
            </a:pPr>
            <a:r>
              <a:rPr lang="en-US" sz="1150" dirty="0">
                <a:solidFill>
                  <a:srgbClr val="1B2A41"/>
                </a:solidFill>
              </a:rPr>
              <a:t>+160 identical, +160 unrelated (held out)</a:t>
            </a:r>
            <a:endParaRPr lang="en-US" sz="1150" dirty="0"/>
          </a:p>
          <a:p>
            <a:pPr marL="127000" indent="-127000">
              <a:spcAft>
                <a:spcPts val="600"/>
              </a:spcAft>
              <a:buSzPct val="100000"/>
              <a:buChar char="•"/>
            </a:pPr>
            <a:r>
              <a:rPr lang="en-US" sz="1150" dirty="0">
                <a:solidFill>
                  <a:srgbClr val="1B2A41"/>
                </a:solidFill>
              </a:rPr>
              <a:t>Labels: rubric LMP 1–10 (silver)</a:t>
            </a:r>
            <a:endParaRPr lang="en-US" sz="1150" dirty="0"/>
          </a:p>
        </p:txBody>
      </p:sp>
      <p:sp>
        <p:nvSpPr>
          <p:cNvPr id="30" name="mcol-1"/>
          <p:cNvSpPr/>
          <p:nvPr/>
        </p:nvSpPr>
        <p:spPr>
          <a:xfrm>
            <a:off x="3246120" y="2606040"/>
            <a:ext cx="2651760" cy="2029968"/>
          </a:xfrm>
          <a:prstGeom prst="roundRect">
            <a:avLst>
              <a:gd name="adj" fmla="val 3604"/>
            </a:avLst>
          </a:prstGeom>
          <a:solidFill>
            <a:schemeClr val="bg2"/>
          </a:solidFill>
          <a:ln/>
        </p:spPr>
      </p:sp>
      <p:sp>
        <p:nvSpPr>
          <p:cNvPr id="31" name="Text 29"/>
          <p:cNvSpPr txBox="1"/>
          <p:nvPr/>
        </p:nvSpPr>
        <p:spPr>
          <a:xfrm>
            <a:off x="3374136" y="2670048"/>
            <a:ext cx="2423160" cy="274320"/>
          </a:xfrm>
          <a:prstGeom prst="rect">
            <a:avLst/>
          </a:prstGeom>
          <a:noFill/>
          <a:ln/>
        </p:spPr>
        <p:txBody>
          <a:bodyPr wrap="square" lIns="0" tIns="0" rIns="0" bIns="0" rtlCol="0" anchor="ctr"/>
          <a:lstStyle/>
          <a:p>
            <a:pPr indent="0" marL="0">
              <a:buNone/>
            </a:pPr>
            <a:r>
              <a:rPr lang="en-US" sz="1200" b="1" dirty="0">
                <a:solidFill>
                  <a:srgbClr val="2A7F7A"/>
                </a:solidFill>
              </a:rPr>
              <a:t>Annotation protocol</a:t>
            </a:r>
            <a:endParaRPr lang="en-US" sz="1200" dirty="0"/>
          </a:p>
        </p:txBody>
      </p:sp>
      <p:sp>
        <p:nvSpPr>
          <p:cNvPr id="32" name="Text 30"/>
          <p:cNvSpPr txBox="1"/>
          <p:nvPr/>
        </p:nvSpPr>
        <p:spPr>
          <a:xfrm>
            <a:off x="3374136" y="3017520"/>
            <a:ext cx="2468880" cy="1572768"/>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rgbClr val="1B2A41"/>
                </a:solidFill>
              </a:rPr>
              <a:t>Written 1–10 rubric with anchors</a:t>
            </a:r>
            <a:endParaRPr lang="en-US" sz="1150" dirty="0"/>
          </a:p>
          <a:p>
            <a:pPr marL="127000" indent="-127000">
              <a:spcAft>
                <a:spcPts val="600"/>
              </a:spcAft>
              <a:buSzPct val="100000"/>
              <a:buChar char="•"/>
            </a:pPr>
            <a:r>
              <a:rPr lang="en-US" sz="1150" dirty="0">
                <a:solidFill>
                  <a:srgbClr val="1B2A41"/>
                </a:solidFill>
              </a:rPr>
              <a:t>2 annotators score independently</a:t>
            </a:r>
            <a:endParaRPr lang="en-US" sz="1150" dirty="0"/>
          </a:p>
          <a:p>
            <a:pPr marL="127000" indent="-127000">
              <a:spcAft>
                <a:spcPts val="600"/>
              </a:spcAft>
              <a:buSzPct val="100000"/>
              <a:buChar char="•"/>
            </a:pPr>
            <a:r>
              <a:rPr lang="en-US" sz="1150" dirty="0">
                <a:solidFill>
                  <a:srgbClr val="1B2A41"/>
                </a:solidFill>
              </a:rPr>
              <a:t>Adjudicate gaps ≥ 3 points</a:t>
            </a:r>
            <a:endParaRPr lang="en-US" sz="1150" dirty="0"/>
          </a:p>
          <a:p>
            <a:pPr marL="127000" indent="-127000">
              <a:spcAft>
                <a:spcPts val="600"/>
              </a:spcAft>
              <a:buSzPct val="100000"/>
              <a:buChar char="•"/>
            </a:pPr>
            <a:r>
              <a:rPr lang="en-US" sz="1150" dirty="0">
                <a:solidFill>
                  <a:srgbClr val="1B2A41"/>
                </a:solidFill>
              </a:rPr>
              <a:t>Report Krippendorff’s α</a:t>
            </a:r>
            <a:endParaRPr lang="en-US" sz="1150" dirty="0"/>
          </a:p>
          <a:p>
            <a:pPr marL="127000" indent="-127000">
              <a:spcAft>
                <a:spcPts val="600"/>
              </a:spcAft>
              <a:buSzPct val="100000"/>
              <a:buChar char="•"/>
            </a:pPr>
            <a:r>
              <a:rPr lang="en-US" sz="1150" dirty="0">
                <a:solidFill>
                  <a:srgbClr val="1B2A41"/>
                </a:solidFill>
              </a:rPr>
              <a:t>Decision: ≥7.5 / 4.5–7.5 / &lt;4.5</a:t>
            </a:r>
            <a:endParaRPr lang="en-US" sz="1150" dirty="0"/>
          </a:p>
        </p:txBody>
      </p:sp>
      <p:sp>
        <p:nvSpPr>
          <p:cNvPr id="33" name="mcol-2"/>
          <p:cNvSpPr/>
          <p:nvPr/>
        </p:nvSpPr>
        <p:spPr>
          <a:xfrm>
            <a:off x="6035040" y="2606040"/>
            <a:ext cx="2651760" cy="2029968"/>
          </a:xfrm>
          <a:prstGeom prst="roundRect">
            <a:avLst>
              <a:gd name="adj" fmla="val 3604"/>
            </a:avLst>
          </a:prstGeom>
          <a:solidFill>
            <a:srgbClr val="FBF3E6"/>
          </a:solidFill>
          <a:ln/>
        </p:spPr>
      </p:sp>
      <p:sp>
        <p:nvSpPr>
          <p:cNvPr id="34" name="Text 32"/>
          <p:cNvSpPr txBox="1"/>
          <p:nvPr/>
        </p:nvSpPr>
        <p:spPr>
          <a:xfrm>
            <a:off x="6163056" y="2670048"/>
            <a:ext cx="2423160" cy="274320"/>
          </a:xfrm>
          <a:prstGeom prst="rect">
            <a:avLst/>
          </a:prstGeom>
          <a:noFill/>
          <a:ln/>
        </p:spPr>
        <p:txBody>
          <a:bodyPr wrap="square" lIns="0" tIns="0" rIns="0" bIns="0" rtlCol="0" anchor="ctr"/>
          <a:lstStyle/>
          <a:p>
            <a:pPr indent="0" marL="0">
              <a:buNone/>
            </a:pPr>
            <a:r>
              <a:rPr lang="en-US" sz="1200" b="1" dirty="0">
                <a:solidFill>
                  <a:srgbClr val="C8892B"/>
                </a:solidFill>
              </a:rPr>
              <a:t>Training set-up (run)</a:t>
            </a:r>
            <a:endParaRPr lang="en-US" sz="1200" dirty="0"/>
          </a:p>
        </p:txBody>
      </p:sp>
      <p:sp>
        <p:nvSpPr>
          <p:cNvPr id="35" name="Text 33"/>
          <p:cNvSpPr txBox="1"/>
          <p:nvPr/>
        </p:nvSpPr>
        <p:spPr>
          <a:xfrm>
            <a:off x="6163056" y="3017520"/>
            <a:ext cx="2468880" cy="1572768"/>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rgbClr val="1B2A41"/>
                </a:solidFill>
              </a:rPr>
              <a:t>MSE loss, AdamW + one-cycle, 40 epochs</a:t>
            </a:r>
            <a:endParaRPr lang="en-US" sz="1150" dirty="0"/>
          </a:p>
          <a:p>
            <a:pPr marL="127000" indent="-127000">
              <a:spcAft>
                <a:spcPts val="600"/>
              </a:spcAft>
              <a:buSzPct val="100000"/>
              <a:buChar char="•"/>
            </a:pPr>
            <a:r>
              <a:rPr lang="en-US" sz="1150" dirty="0">
                <a:solidFill>
                  <a:srgbClr val="1B2A41"/>
                </a:solidFill>
              </a:rPr>
              <a:t>Augment: identical→10, unrelated→1</a:t>
            </a:r>
            <a:endParaRPr lang="en-US" sz="1150" dirty="0"/>
          </a:p>
          <a:p>
            <a:pPr marL="127000" indent="-127000">
              <a:spcAft>
                <a:spcPts val="600"/>
              </a:spcAft>
              <a:buSzPct val="100000"/>
              <a:buChar char="•"/>
            </a:pPr>
            <a:r>
              <a:rPr lang="en-US" sz="1150" dirty="0">
                <a:solidFill>
                  <a:srgbClr val="1B2A41"/>
                </a:solidFill>
              </a:rPr>
              <a:t>5-fold CV grouped by clause, 3 seeds</a:t>
            </a:r>
            <a:endParaRPr lang="en-US" sz="1150" dirty="0"/>
          </a:p>
          <a:p>
            <a:pPr marL="127000" indent="-127000">
              <a:spcAft>
                <a:spcPts val="600"/>
              </a:spcAft>
              <a:buSzPct val="100000"/>
              <a:buChar char="•"/>
            </a:pPr>
            <a:r>
              <a:rPr lang="en-US" sz="1150" dirty="0">
                <a:solidFill>
                  <a:srgbClr val="1B2A41"/>
                </a:solidFill>
              </a:rPr>
              <a:t>Encoder: 2-layer, from scratch (CPU)</a:t>
            </a:r>
            <a:endParaRPr lang="en-US" sz="1150" dirty="0"/>
          </a:p>
          <a:p>
            <a:pPr marL="127000" indent="-127000">
              <a:spcAft>
                <a:spcPts val="600"/>
              </a:spcAft>
              <a:buSzPct val="100000"/>
              <a:buChar char="•"/>
            </a:pPr>
            <a:r>
              <a:rPr lang="en-US" sz="1150" dirty="0">
                <a:solidFill>
                  <a:srgbClr val="1B2A41"/>
                </a:solidFill>
              </a:rPr>
              <a:t>Next: fine-tune XLM-R / MuRIL on GPU</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Relevance of algorithms and evaluation metrics</a:t>
            </a:r>
            <a:endParaRPr lang="en-US" sz="2800" dirty="0"/>
          </a:p>
        </p:txBody>
      </p:sp>
      <p:graphicFrame>
        <p:nvGraphicFramePr>
          <p:cNvPr id="8" name="algo-table"/>
          <p:cNvGraphicFramePr>
            <a:graphicFrameLocks noGrp="1"/>
          </p:cNvGraphicFramePr>
          <p:nvPr>
            <p:extLst>
              <p:ext uri="{D42A27DB-BD31-4B8C-83A1-F6EECF244321}">
                <p14:modId xmlns:p14="http://schemas.microsoft.com/office/powerpoint/2010/main" val="1579011935"/>
              </p:ext>
            </p:extLst>
          </p:nvPr>
        </p:nvGraphicFramePr>
        <p:xfrm>
          <a:off x="457200" y="896112"/>
          <a:ext cx="8229600" cy="914400"/>
        </p:xfrm>
        <a:graphic>
          <a:graphicData uri="http://schemas.openxmlformats.org/drawingml/2006/table">
            <a:tbl>
              <a:tblPr/>
              <a:tblGrid>
                <a:gridCol w="2514600"/>
                <a:gridCol w="1463040"/>
                <a:gridCol w="4251960"/>
              </a:tblGrid>
              <a:tr h="310896">
                <a:tc>
                  <a:txBody>
                    <a:bodyPr/>
                    <a:lstStyle/>
                    <a:p>
                      <a:pPr indent="0" marL="0">
                        <a:buNone/>
                      </a:pPr>
                      <a:r>
                        <a:rPr lang="en-US" sz="1050" b="1" dirty="0">
                          <a:solidFill>
                            <a:srgbClr val="FFFFFF"/>
                          </a:solidFill>
                        </a:rPr>
                        <a:t>Technique</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Role</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indent="0" marL="0">
                        <a:buNone/>
                      </a:pPr>
                      <a:r>
                        <a:rPr lang="en-US" sz="1050" b="1" dirty="0">
                          <a:solidFill>
                            <a:srgbClr val="FFFFFF"/>
                          </a:solidFill>
                        </a:rPr>
                        <a:t>Why it is the right choice here</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r>
              <a:tr h="310896">
                <a:tc>
                  <a:txBody>
                    <a:bodyPr/>
                    <a:lstStyle/>
                    <a:p>
                      <a:pPr indent="0" marL="0">
                        <a:buNone/>
                      </a:pPr>
                      <a:r>
                        <a:rPr lang="en-US" sz="1050" b="1" dirty="0">
                          <a:solidFill>
                            <a:srgbClr val="1B2A41"/>
                          </a:solidFill>
                        </a:rPr>
                        <a:t>chrF</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Lexical baseline</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Character level, so robust to Hindi inflection and spelling variants</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Embedding cosine, BERTScore-style F1</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Semantic baselines</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Standard ‘generic similarity’ the brief requires us to beat</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Gradient-boosted trees on LegalDiff</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Best LMP regressor</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Learns non-linear interactions of 19 sparse legal features from little data</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Cross-encoder Transformer</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JUDGEBERT-style model</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Attention aligns o and s token by token; next: XLM-R / MuRIL</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Regression head, MSE, σ-scaling</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LMP in [1, 10]</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Same formulation as JUDGEBERT, so results are directly comparable</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Identical / unrelated augmentation</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Scale anchoring</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Teaches both ends of the scale; enables the E4 sanity test</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10896">
                <a:tc>
                  <a:txBody>
                    <a:bodyPr/>
                    <a:lstStyle/>
                    <a:p>
                      <a:pPr indent="0" marL="0">
                        <a:buNone/>
                      </a:pPr>
                      <a:r>
                        <a:rPr lang="en-US" sz="1050" b="1" dirty="0">
                          <a:solidFill>
                            <a:srgbClr val="1B2A41"/>
                          </a:solidFill>
                        </a:rPr>
                        <a:t>LegalDiff features + rule explainer</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Explainability</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rPr>
                        <a:t>Typed, auditable signal for each error category in EN and HI</a:t>
                      </a:r>
                      <a:endParaRPr lang="en-US" sz="1050" dirty="0"/>
                    </a:p>
                  </a:txBody>
                  <a:tcPr marL="45720" marR="45720" marT="45720" marB="45720"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4" name="met-0"/>
          <p:cNvSpPr/>
          <p:nvPr/>
        </p:nvSpPr>
        <p:spPr>
          <a:xfrm>
            <a:off x="457200" y="3566160"/>
            <a:ext cx="1975104" cy="1069848"/>
          </a:xfrm>
          <a:prstGeom prst="roundRect">
            <a:avLst>
              <a:gd name="adj" fmla="val 6838"/>
            </a:avLst>
          </a:prstGeom>
          <a:solidFill>
            <a:schemeClr val="tx1"/>
          </a:solidFill>
          <a:ln/>
        </p:spPr>
      </p:sp>
      <p:sp>
        <p:nvSpPr>
          <p:cNvPr id="5" name="Text 2"/>
          <p:cNvSpPr txBox="1"/>
          <p:nvPr/>
        </p:nvSpPr>
        <p:spPr>
          <a:xfrm>
            <a:off x="548640" y="3621024"/>
            <a:ext cx="1792224" cy="237744"/>
          </a:xfrm>
          <a:prstGeom prst="rect">
            <a:avLst/>
          </a:prstGeom>
          <a:noFill/>
          <a:ln/>
        </p:spPr>
        <p:txBody>
          <a:bodyPr wrap="square" lIns="0" tIns="0" rIns="0" bIns="0" rtlCol="0" anchor="ctr"/>
          <a:lstStyle/>
          <a:p>
            <a:pPr indent="0" marL="0">
              <a:buNone/>
            </a:pPr>
            <a:r>
              <a:rPr lang="en-US" sz="1100" b="1" dirty="0">
                <a:solidFill>
                  <a:srgbClr val="C8892B"/>
                </a:solidFill>
              </a:rPr>
              <a:t>Pearson r / Spearman ρ</a:t>
            </a:r>
            <a:endParaRPr lang="en-US" sz="1100" dirty="0"/>
          </a:p>
        </p:txBody>
      </p:sp>
      <p:sp>
        <p:nvSpPr>
          <p:cNvPr id="6" name="Text 3"/>
          <p:cNvSpPr txBox="1"/>
          <p:nvPr/>
        </p:nvSpPr>
        <p:spPr>
          <a:xfrm>
            <a:off x="548640" y="3877056"/>
            <a:ext cx="1810512" cy="475488"/>
          </a:xfrm>
          <a:prstGeom prst="rect">
            <a:avLst/>
          </a:prstGeom>
          <a:noFill/>
          <a:ln/>
        </p:spPr>
        <p:txBody>
          <a:bodyPr wrap="square" lIns="0" tIns="0" rIns="0" bIns="0" rtlCol="0" anchor="t"/>
          <a:lstStyle/>
          <a:p>
            <a:pPr indent="0" marL="0">
              <a:buNone/>
            </a:pPr>
            <a:r>
              <a:rPr lang="en-US" sz="1100" dirty="0">
                <a:solidFill>
                  <a:srgbClr val="FFFFFF"/>
                </a:solidFill>
              </a:rPr>
              <a:t>r = cov(ŷ, y) / (σŷ σy)</a:t>
            </a:r>
            <a:endParaRPr lang="en-US" sz="1100" dirty="0"/>
          </a:p>
          <a:p>
            <a:pPr indent="0" marL="0">
              <a:buNone/>
            </a:pPr>
            <a:r>
              <a:rPr lang="en-US" sz="1100" dirty="0">
                <a:solidFill>
                  <a:srgbClr val="FFFFFF"/>
                </a:solidFill>
              </a:rPr>
              <a:t>ρ = r on ranks</a:t>
            </a:r>
            <a:endParaRPr lang="en-US" sz="1100" dirty="0"/>
          </a:p>
        </p:txBody>
      </p:sp>
      <p:sp>
        <p:nvSpPr>
          <p:cNvPr id="7" name="Text 4"/>
          <p:cNvSpPr txBox="1"/>
          <p:nvPr/>
        </p:nvSpPr>
        <p:spPr>
          <a:xfrm>
            <a:off x="548640" y="4370832"/>
            <a:ext cx="1792224" cy="228600"/>
          </a:xfrm>
          <a:prstGeom prst="rect">
            <a:avLst/>
          </a:prstGeom>
          <a:noFill/>
          <a:ln/>
        </p:spPr>
        <p:txBody>
          <a:bodyPr wrap="square" lIns="0" tIns="0" rIns="0" bIns="0" rtlCol="0" anchor="ctr"/>
          <a:lstStyle/>
          <a:p>
            <a:pPr indent="0" marL="0">
              <a:buNone/>
            </a:pPr>
            <a:r>
              <a:rPr lang="en-US" sz="950" i="1" dirty="0">
                <a:solidFill>
                  <a:srgbClr val="9FB3C8"/>
                </a:solidFill>
              </a:rPr>
              <a:t>agreement with human LMP</a:t>
            </a:r>
            <a:endParaRPr lang="en-US" sz="950" dirty="0"/>
          </a:p>
        </p:txBody>
      </p:sp>
      <p:sp>
        <p:nvSpPr>
          <p:cNvPr id="8" name="met-1"/>
          <p:cNvSpPr/>
          <p:nvPr/>
        </p:nvSpPr>
        <p:spPr>
          <a:xfrm>
            <a:off x="2542032" y="3566160"/>
            <a:ext cx="1975104" cy="1069848"/>
          </a:xfrm>
          <a:prstGeom prst="roundRect">
            <a:avLst>
              <a:gd name="adj" fmla="val 6838"/>
            </a:avLst>
          </a:prstGeom>
          <a:solidFill>
            <a:schemeClr val="tx1"/>
          </a:solidFill>
          <a:ln/>
        </p:spPr>
      </p:sp>
      <p:sp>
        <p:nvSpPr>
          <p:cNvPr id="9" name="Text 6"/>
          <p:cNvSpPr txBox="1"/>
          <p:nvPr/>
        </p:nvSpPr>
        <p:spPr>
          <a:xfrm>
            <a:off x="2633472" y="3621024"/>
            <a:ext cx="1792224" cy="237744"/>
          </a:xfrm>
          <a:prstGeom prst="rect">
            <a:avLst/>
          </a:prstGeom>
          <a:noFill/>
          <a:ln/>
        </p:spPr>
        <p:txBody>
          <a:bodyPr wrap="square" lIns="0" tIns="0" rIns="0" bIns="0" rtlCol="0" anchor="ctr"/>
          <a:lstStyle/>
          <a:p>
            <a:pPr indent="0" marL="0">
              <a:buNone/>
            </a:pPr>
            <a:r>
              <a:rPr lang="en-US" sz="1100" b="1" dirty="0">
                <a:solidFill>
                  <a:srgbClr val="C8892B"/>
                </a:solidFill>
              </a:rPr>
              <a:t>RMSE / MAE</a:t>
            </a:r>
            <a:endParaRPr lang="en-US" sz="1100" dirty="0"/>
          </a:p>
        </p:txBody>
      </p:sp>
      <p:sp>
        <p:nvSpPr>
          <p:cNvPr id="10" name="Text 7"/>
          <p:cNvSpPr txBox="1"/>
          <p:nvPr/>
        </p:nvSpPr>
        <p:spPr>
          <a:xfrm>
            <a:off x="2633472" y="3877056"/>
            <a:ext cx="1810512" cy="475488"/>
          </a:xfrm>
          <a:prstGeom prst="rect">
            <a:avLst/>
          </a:prstGeom>
          <a:noFill/>
          <a:ln/>
        </p:spPr>
        <p:txBody>
          <a:bodyPr wrap="square" lIns="0" tIns="0" rIns="0" bIns="0" rtlCol="0" anchor="t"/>
          <a:lstStyle/>
          <a:p>
            <a:pPr indent="0" marL="0">
              <a:buNone/>
            </a:pPr>
            <a:r>
              <a:rPr lang="en-US" sz="1100" dirty="0">
                <a:solidFill>
                  <a:srgbClr val="FFFFFF"/>
                </a:solidFill>
              </a:rPr>
              <a:t>RMSE = √(Σ(ŷᵢ − yᵢ)² / n)</a:t>
            </a:r>
            <a:endParaRPr lang="en-US" sz="1100" dirty="0"/>
          </a:p>
          <a:p>
            <a:pPr indent="0" marL="0">
              <a:buNone/>
            </a:pPr>
            <a:r>
              <a:rPr lang="en-US" sz="1100" dirty="0">
                <a:solidFill>
                  <a:srgbClr val="FFFFFF"/>
                </a:solidFill>
              </a:rPr>
              <a:t>MAE = Σ|ŷᵢ − yᵢ| / n</a:t>
            </a:r>
            <a:endParaRPr lang="en-US" sz="1100" dirty="0"/>
          </a:p>
        </p:txBody>
      </p:sp>
      <p:sp>
        <p:nvSpPr>
          <p:cNvPr id="11" name="Text 8"/>
          <p:cNvSpPr txBox="1"/>
          <p:nvPr/>
        </p:nvSpPr>
        <p:spPr>
          <a:xfrm>
            <a:off x="2633472" y="4370832"/>
            <a:ext cx="1792224" cy="228600"/>
          </a:xfrm>
          <a:prstGeom prst="rect">
            <a:avLst/>
          </a:prstGeom>
          <a:noFill/>
          <a:ln/>
        </p:spPr>
        <p:txBody>
          <a:bodyPr wrap="square" lIns="0" tIns="0" rIns="0" bIns="0" rtlCol="0" anchor="ctr"/>
          <a:lstStyle/>
          <a:p>
            <a:pPr indent="0" marL="0">
              <a:buNone/>
            </a:pPr>
            <a:r>
              <a:rPr lang="en-US" sz="950" i="1" dirty="0">
                <a:solidFill>
                  <a:srgbClr val="9FB3C8"/>
                </a:solidFill>
              </a:rPr>
              <a:t>error on the 1–10 scale</a:t>
            </a:r>
            <a:endParaRPr lang="en-US" sz="950" dirty="0"/>
          </a:p>
        </p:txBody>
      </p:sp>
      <p:sp>
        <p:nvSpPr>
          <p:cNvPr id="12" name="met-2"/>
          <p:cNvSpPr/>
          <p:nvPr/>
        </p:nvSpPr>
        <p:spPr>
          <a:xfrm>
            <a:off x="4626864" y="3566160"/>
            <a:ext cx="1975104" cy="1069848"/>
          </a:xfrm>
          <a:prstGeom prst="roundRect">
            <a:avLst>
              <a:gd name="adj" fmla="val 6838"/>
            </a:avLst>
          </a:prstGeom>
          <a:solidFill>
            <a:schemeClr val="tx1"/>
          </a:solidFill>
          <a:ln/>
        </p:spPr>
      </p:sp>
      <p:sp>
        <p:nvSpPr>
          <p:cNvPr id="13" name="Text 10"/>
          <p:cNvSpPr txBox="1"/>
          <p:nvPr/>
        </p:nvSpPr>
        <p:spPr>
          <a:xfrm>
            <a:off x="4718304" y="3621024"/>
            <a:ext cx="1792224" cy="237744"/>
          </a:xfrm>
          <a:prstGeom prst="rect">
            <a:avLst/>
          </a:prstGeom>
          <a:noFill/>
          <a:ln/>
        </p:spPr>
        <p:txBody>
          <a:bodyPr wrap="square" lIns="0" tIns="0" rIns="0" bIns="0" rtlCol="0" anchor="ctr"/>
          <a:lstStyle/>
          <a:p>
            <a:pPr indent="0" marL="0">
              <a:buNone/>
            </a:pPr>
            <a:r>
              <a:rPr lang="en-US" sz="1100" b="1" dirty="0">
                <a:solidFill>
                  <a:srgbClr val="C8892B"/>
                </a:solidFill>
              </a:rPr>
              <a:t>Macro-F1</a:t>
            </a:r>
            <a:endParaRPr lang="en-US" sz="1100" dirty="0"/>
          </a:p>
        </p:txBody>
      </p:sp>
      <p:sp>
        <p:nvSpPr>
          <p:cNvPr id="14" name="Text 11"/>
          <p:cNvSpPr txBox="1"/>
          <p:nvPr/>
        </p:nvSpPr>
        <p:spPr>
          <a:xfrm>
            <a:off x="4718304" y="3877056"/>
            <a:ext cx="1810512" cy="475488"/>
          </a:xfrm>
          <a:prstGeom prst="rect">
            <a:avLst/>
          </a:prstGeom>
          <a:noFill/>
          <a:ln/>
        </p:spPr>
        <p:txBody>
          <a:bodyPr wrap="square" lIns="0" tIns="0" rIns="0" bIns="0" rtlCol="0" anchor="t"/>
          <a:lstStyle/>
          <a:p>
            <a:pPr indent="0" marL="0">
              <a:buNone/>
            </a:pPr>
            <a:r>
              <a:rPr lang="en-US" sz="1100" dirty="0">
                <a:solidFill>
                  <a:srgbClr val="FFFFFF"/>
                </a:solidFill>
              </a:rPr>
              <a:t>F1 = 2PR / (P + R)</a:t>
            </a:r>
            <a:endParaRPr lang="en-US" sz="1100" dirty="0"/>
          </a:p>
          <a:p>
            <a:pPr indent="0" marL="0">
              <a:buNone/>
            </a:pPr>
            <a:r>
              <a:rPr lang="en-US" sz="1100" dirty="0">
                <a:solidFill>
                  <a:srgbClr val="FFFFFF"/>
                </a:solidFill>
              </a:rPr>
              <a:t>averaged over classes</a:t>
            </a:r>
            <a:endParaRPr lang="en-US" sz="1100" dirty="0"/>
          </a:p>
        </p:txBody>
      </p:sp>
      <p:sp>
        <p:nvSpPr>
          <p:cNvPr id="15" name="Text 12"/>
          <p:cNvSpPr txBox="1"/>
          <p:nvPr/>
        </p:nvSpPr>
        <p:spPr>
          <a:xfrm>
            <a:off x="4718304" y="4370832"/>
            <a:ext cx="1792224" cy="228600"/>
          </a:xfrm>
          <a:prstGeom prst="rect">
            <a:avLst/>
          </a:prstGeom>
          <a:noFill/>
          <a:ln/>
        </p:spPr>
        <p:txBody>
          <a:bodyPr wrap="square" lIns="0" tIns="0" rIns="0" bIns="0" rtlCol="0" anchor="ctr"/>
          <a:lstStyle/>
          <a:p>
            <a:pPr indent="0" marL="0">
              <a:buNone/>
            </a:pPr>
            <a:r>
              <a:rPr lang="en-US" sz="950" i="1" dirty="0">
                <a:solidFill>
                  <a:srgbClr val="9FB3C8"/>
                </a:solidFill>
              </a:rPr>
              <a:t>decision and error-type quality</a:t>
            </a:r>
            <a:endParaRPr lang="en-US" sz="950" dirty="0"/>
          </a:p>
        </p:txBody>
      </p:sp>
      <p:sp>
        <p:nvSpPr>
          <p:cNvPr id="16" name="met-3"/>
          <p:cNvSpPr/>
          <p:nvPr/>
        </p:nvSpPr>
        <p:spPr>
          <a:xfrm>
            <a:off x="6711696" y="3566160"/>
            <a:ext cx="1975104" cy="1069848"/>
          </a:xfrm>
          <a:prstGeom prst="roundRect">
            <a:avLst>
              <a:gd name="adj" fmla="val 6838"/>
            </a:avLst>
          </a:prstGeom>
          <a:solidFill>
            <a:schemeClr val="tx1"/>
          </a:solidFill>
          <a:ln/>
        </p:spPr>
      </p:sp>
      <p:sp>
        <p:nvSpPr>
          <p:cNvPr id="17" name="Text 14"/>
          <p:cNvSpPr txBox="1"/>
          <p:nvPr/>
        </p:nvSpPr>
        <p:spPr>
          <a:xfrm>
            <a:off x="6803136" y="3621024"/>
            <a:ext cx="1792224" cy="237744"/>
          </a:xfrm>
          <a:prstGeom prst="rect">
            <a:avLst/>
          </a:prstGeom>
          <a:noFill/>
          <a:ln/>
        </p:spPr>
        <p:txBody>
          <a:bodyPr wrap="square" lIns="0" tIns="0" rIns="0" bIns="0" rtlCol="0" anchor="ctr"/>
          <a:lstStyle/>
          <a:p>
            <a:pPr indent="0" marL="0">
              <a:buNone/>
            </a:pPr>
            <a:r>
              <a:rPr lang="en-US" sz="1100" b="1" dirty="0">
                <a:solidFill>
                  <a:srgbClr val="C8892B"/>
                </a:solidFill>
              </a:rPr>
              <a:t>Sanity rates</a:t>
            </a:r>
            <a:endParaRPr lang="en-US" sz="1100" dirty="0"/>
          </a:p>
        </p:txBody>
      </p:sp>
      <p:sp>
        <p:nvSpPr>
          <p:cNvPr id="18" name="Text 15"/>
          <p:cNvSpPr txBox="1"/>
          <p:nvPr/>
        </p:nvSpPr>
        <p:spPr>
          <a:xfrm>
            <a:off x="6803136" y="3877056"/>
            <a:ext cx="1810512" cy="475488"/>
          </a:xfrm>
          <a:prstGeom prst="rect">
            <a:avLst/>
          </a:prstGeom>
          <a:noFill/>
          <a:ln/>
        </p:spPr>
        <p:txBody>
          <a:bodyPr wrap="square" lIns="0" tIns="0" rIns="0" bIns="0" rtlCol="0" anchor="t"/>
          <a:lstStyle/>
          <a:p>
            <a:pPr indent="0" marL="0">
              <a:buNone/>
            </a:pPr>
            <a:r>
              <a:rPr lang="en-US" sz="1100" dirty="0">
                <a:solidFill>
                  <a:srgbClr val="FFFFFF"/>
                </a:solidFill>
              </a:rPr>
              <a:t>% identical with ŷ ≥ 9</a:t>
            </a:r>
            <a:endParaRPr lang="en-US" sz="1100" dirty="0"/>
          </a:p>
          <a:p>
            <a:pPr indent="0" marL="0">
              <a:buNone/>
            </a:pPr>
            <a:r>
              <a:rPr lang="en-US" sz="1100" dirty="0">
                <a:solidFill>
                  <a:srgbClr val="FFFFFF"/>
                </a:solidFill>
              </a:rPr>
              <a:t>% unrelated with ŷ ≤ 2</a:t>
            </a:r>
            <a:endParaRPr lang="en-US" sz="1100" dirty="0"/>
          </a:p>
        </p:txBody>
      </p:sp>
      <p:sp>
        <p:nvSpPr>
          <p:cNvPr id="19" name="Text 16"/>
          <p:cNvSpPr txBox="1"/>
          <p:nvPr/>
        </p:nvSpPr>
        <p:spPr>
          <a:xfrm>
            <a:off x="6803136" y="4370832"/>
            <a:ext cx="1792224" cy="228600"/>
          </a:xfrm>
          <a:prstGeom prst="rect">
            <a:avLst/>
          </a:prstGeom>
          <a:noFill/>
          <a:ln/>
        </p:spPr>
        <p:txBody>
          <a:bodyPr wrap="square" lIns="0" tIns="0" rIns="0" bIns="0" rtlCol="0" anchor="ctr"/>
          <a:lstStyle/>
          <a:p>
            <a:pPr indent="0" marL="0">
              <a:buNone/>
            </a:pPr>
            <a:r>
              <a:rPr lang="en-US" sz="950" i="1" dirty="0">
                <a:solidFill>
                  <a:srgbClr val="9FB3C8"/>
                </a:solidFill>
              </a:rPr>
              <a:t>scale calibration (E4)</a:t>
            </a:r>
            <a:endParaRPr lang="en-US" sz="9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E1: legal-aware models beat generic metrics</a:t>
            </a:r>
            <a:endParaRPr lang="en-US" sz="2800" dirty="0"/>
          </a:p>
        </p:txBody>
      </p:sp>
      <p:graphicFrame>
        <p:nvGraphicFramePr>
          <p:cNvPr id="9" name="e1-table"/>
          <p:cNvGraphicFramePr>
            <a:graphicFrameLocks noGrp="1"/>
          </p:cNvGraphicFramePr>
          <p:nvPr>
            <p:extLst>
              <p:ext uri="{D42A27DB-BD31-4B8C-83A1-F6EECF244321}">
                <p14:modId xmlns:p14="http://schemas.microsoft.com/office/powerpoint/2010/main" val="1579011935"/>
              </p:ext>
            </p:extLst>
          </p:nvPr>
        </p:nvGraphicFramePr>
        <p:xfrm>
          <a:off x="457200" y="896112"/>
          <a:ext cx="5074920" cy="914400"/>
        </p:xfrm>
        <a:graphic>
          <a:graphicData uri="http://schemas.openxmlformats.org/drawingml/2006/table">
            <a:tbl>
              <a:tblPr/>
              <a:tblGrid>
                <a:gridCol w="1783080"/>
                <a:gridCol w="566928"/>
                <a:gridCol w="502920"/>
                <a:gridCol w="566928"/>
                <a:gridCol w="502920"/>
                <a:gridCol w="603504"/>
                <a:gridCol w="548640"/>
              </a:tblGrid>
              <a:tr h="329184">
                <a:tc>
                  <a:txBody>
                    <a:bodyPr/>
                    <a:lstStyle/>
                    <a:p>
                      <a:pPr algn="l" indent="0" marL="0">
                        <a:buNone/>
                      </a:pPr>
                      <a:r>
                        <a:rPr lang="en-US" sz="1000" b="1" dirty="0">
                          <a:solidFill>
                            <a:srgbClr val="FFFFFF"/>
                          </a:solidFill>
                        </a:rPr>
                        <a:t>System (5-fold grouped CV, n = 320)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r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ρ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RMSE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MAE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Dec. F1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NP-F1 ↑</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r>
              <a:tr h="329184">
                <a:tc>
                  <a:txBody>
                    <a:bodyPr/>
                    <a:lstStyle/>
                    <a:p>
                      <a:pPr algn="l" indent="0" marL="0">
                        <a:buNone/>
                      </a:pPr>
                      <a:r>
                        <a:rPr lang="en-US" sz="1000" dirty="0">
                          <a:solidFill>
                            <a:srgbClr val="1B2A41"/>
                          </a:solidFill>
                        </a:rPr>
                        <a:t>chrF</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0.37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0.36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3.38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3.00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0.28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0.25</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B2A41"/>
                          </a:solidFill>
                        </a:rPr>
                        <a:t>Embedding cosine</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0.18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0.16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3.58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3.38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0.06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0.06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B2A41"/>
                          </a:solidFill>
                        </a:rPr>
                        <a:t>Token-align F1</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0.18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0.19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3.58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3.39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0.04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0.00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A7F7A"/>
                          </a:solidFill>
                        </a:rPr>
                        <a:t>LegalDiff-GBR</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0.60 ±.00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0.59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2.96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2.22</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0.54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c>
                  <a:txBody>
                    <a:bodyPr/>
                    <a:lstStyle/>
                    <a:p>
                      <a:pPr algn="ctr" indent="0" marL="0">
                        <a:buNone/>
                      </a:pPr>
                      <a:r>
                        <a:rPr lang="en-US" sz="1000" b="1" dirty="0">
                          <a:solidFill>
                            <a:srgbClr val="2A7F7A"/>
                          </a:solidFill>
                        </a:rPr>
                        <a:t>0.61</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E3F0EE"/>
                    </a:solidFill>
                  </a:tcPr>
                </a:tc>
              </a:tr>
              <a:tr h="329184">
                <a:tc>
                  <a:txBody>
                    <a:bodyPr/>
                    <a:lstStyle/>
                    <a:p>
                      <a:pPr algn="l" indent="0" marL="0">
                        <a:buNone/>
                      </a:pPr>
                      <a:r>
                        <a:rPr lang="en-US" sz="1000" b="1" dirty="0">
                          <a:solidFill>
                            <a:srgbClr val="2A7F7A"/>
                          </a:solidFill>
                        </a:rPr>
                        <a:t>ML-JudgeBERT (text)</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0.12 ±.01</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0.08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4.48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3.44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0.34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0.37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A7F7A"/>
                          </a:solidFill>
                        </a:rPr>
                        <a:t>ML-JudgeBERT + LegalDiff</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0.49 ±.02</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0.49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3.66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2.47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0.44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A41"/>
                          </a:solidFill>
                        </a:rPr>
                        <a:t>0.48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273552"/>
            <a:ext cx="5074920" cy="438912"/>
          </a:xfrm>
          <a:prstGeom prst="rect">
            <a:avLst/>
          </a:prstGeom>
          <a:noFill/>
          <a:ln/>
        </p:spPr>
        <p:txBody>
          <a:bodyPr wrap="square" lIns="0" tIns="0" rIns="0" bIns="0" rtlCol="0" anchor="ctr"/>
          <a:lstStyle/>
          <a:p>
            <a:pPr indent="0" marL="0">
              <a:buNone/>
            </a:pPr>
            <a:r>
              <a:rPr lang="en-US" sz="1000" i="1" dirty="0">
                <a:solidFill>
                  <a:schemeClr val="accent5"/>
                </a:solidFill>
              </a:rPr>
              <a:t>Learned models: mean ± s.d. over 3 seeds. Baselines calibrated to 1–10 on training folds. Dec. F1 = macro-F1 of the 3-way decision; NP-F1 = F1 for ‘Not preserved’.</a:t>
            </a:r>
            <a:endParaRPr lang="en-US" sz="1000" dirty="0"/>
          </a:p>
        </p:txBody>
      </p:sp>
      <p:graphicFrame>
        <p:nvGraphicFramePr>
          <p:cNvPr id="5" name="e2-lang-chart" descr=""/>
          <p:cNvGraphicFramePr/>
          <p:nvPr/>
        </p:nvGraphicFramePr>
        <p:xfrm>
          <a:off x="5669280" y="868680"/>
          <a:ext cx="3063240" cy="2834640"/>
        </p:xfrm>
        <a:graphic xmlns:a="http://schemas.openxmlformats.org/drawingml/2006/main">
          <a:graphicData uri="http://schemas.openxmlformats.org/drawingml/2006/chart">
            <c:chart xmlns:c="http://schemas.openxmlformats.org/drawingml/2006/chart" r:id="rId1"/>
          </a:graphicData>
        </a:graphic>
      </p:graphicFrame>
      <p:sp>
        <p:nvSpPr>
          <p:cNvPr id="6" name="e1-verdict"/>
          <p:cNvSpPr/>
          <p:nvPr/>
        </p:nvSpPr>
        <p:spPr>
          <a:xfrm>
            <a:off x="457200" y="3767328"/>
            <a:ext cx="8229600" cy="868680"/>
          </a:xfrm>
          <a:prstGeom prst="roundRect">
            <a:avLst>
              <a:gd name="adj" fmla="val 8421"/>
            </a:avLst>
          </a:prstGeom>
          <a:solidFill>
            <a:schemeClr val="tx1"/>
          </a:solidFill>
          <a:ln/>
        </p:spPr>
      </p:sp>
      <p:sp>
        <p:nvSpPr>
          <p:cNvPr id="7" name="Text 3"/>
          <p:cNvSpPr txBox="1"/>
          <p:nvPr/>
        </p:nvSpPr>
        <p:spPr>
          <a:xfrm>
            <a:off x="621792" y="3794760"/>
            <a:ext cx="7909560" cy="813816"/>
          </a:xfrm>
          <a:prstGeom prst="rect">
            <a:avLst/>
          </a:prstGeom>
          <a:noFill/>
          <a:ln/>
        </p:spPr>
        <p:txBody>
          <a:bodyPr wrap="square" lIns="0" tIns="0" rIns="0" bIns="0" rtlCol="0" anchor="ctr"/>
          <a:lstStyle/>
          <a:p>
            <a:pPr indent="0" marL="0">
              <a:buNone/>
            </a:pPr>
            <a:r>
              <a:rPr lang="en-US" sz="1150" dirty="0">
                <a:solidFill>
                  <a:srgbClr val="FFFFFF"/>
                </a:solidFill>
              </a:rPr>
              <a:t>H1 partly supported. LegalDiff-GBR is best on every metric (r 0.60, RMSE 2.96, Not-preserved F1 0.61) in both languages (EN 0.63, HI 0.56). The best generic metric, chrF, reaches only r 0.37; embedding similarity drops from 0.38 (EN) to 0.21 (HI). The text-only encoder trained from scratch fails (r 0.12); fusing LegalDiff lifts it to 0.49, so pretraining is the missing piece.</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E2–E4: transfer and sanity checks</a:t>
            </a:r>
            <a:endParaRPr lang="en-US" sz="2800" dirty="0"/>
          </a:p>
        </p:txBody>
      </p:sp>
      <p:sp>
        <p:nvSpPr>
          <p:cNvPr id="3" name="Text 1"/>
          <p:cNvSpPr txBox="1"/>
          <p:nvPr/>
        </p:nvSpPr>
        <p:spPr>
          <a:xfrm>
            <a:off x="457200" y="868680"/>
            <a:ext cx="3977640" cy="256032"/>
          </a:xfrm>
          <a:prstGeom prst="rect">
            <a:avLst/>
          </a:prstGeom>
          <a:noFill/>
          <a:ln/>
        </p:spPr>
        <p:txBody>
          <a:bodyPr wrap="square" lIns="0" tIns="0" rIns="0" bIns="0" rtlCol="0" anchor="ctr"/>
          <a:lstStyle/>
          <a:p>
            <a:pPr indent="0" marL="0">
              <a:buNone/>
            </a:pPr>
            <a:r>
              <a:rPr lang="en-US" sz="1150" b="1" dirty="0">
                <a:solidFill>
                  <a:schemeClr val="tx1"/>
                </a:solidFill>
              </a:rPr>
              <a:t>E2 · Cross-lingual transfer (Pearson r)</a:t>
            </a:r>
            <a:endParaRPr lang="en-US" sz="1150" dirty="0"/>
          </a:p>
        </p:txBody>
      </p:sp>
      <p:graphicFrame>
        <p:nvGraphicFramePr>
          <p:cNvPr id="10" name="e2-table"/>
          <p:cNvGraphicFramePr>
            <a:graphicFrameLocks noGrp="1"/>
          </p:cNvGraphicFramePr>
          <p:nvPr>
            <p:extLst>
              <p:ext uri="{D42A27DB-BD31-4B8C-83A1-F6EECF244321}">
                <p14:modId xmlns:p14="http://schemas.microsoft.com/office/powerpoint/2010/main" val="1579011935"/>
              </p:ext>
            </p:extLst>
          </p:nvPr>
        </p:nvGraphicFramePr>
        <p:xfrm>
          <a:off x="457200" y="1161288"/>
          <a:ext cx="3977640" cy="914400"/>
        </p:xfrm>
        <a:graphic>
          <a:graphicData uri="http://schemas.openxmlformats.org/drawingml/2006/table">
            <a:tbl>
              <a:tblPr/>
              <a:tblGrid>
                <a:gridCol w="1600200"/>
                <a:gridCol w="594360"/>
                <a:gridCol w="594360"/>
                <a:gridCol w="594360"/>
                <a:gridCol w="594360"/>
              </a:tblGrid>
              <a:tr h="301752">
                <a:tc>
                  <a:txBody>
                    <a:bodyPr/>
                    <a:lstStyle/>
                    <a:p>
                      <a:pPr algn="l" indent="0" marL="0">
                        <a:buNone/>
                      </a:pPr>
                      <a:r>
                        <a:rPr lang="en-US" sz="1000" b="1" dirty="0">
                          <a:solidFill>
                            <a:srgbClr val="FFFFFF"/>
                          </a:solidFill>
                        </a:rPr>
                        <a:t>Train → test</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chrF</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Emb. cos</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LD-GBR</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MLJB+LD</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r>
              <a:tr h="301752">
                <a:tc>
                  <a:txBody>
                    <a:bodyPr/>
                    <a:lstStyle/>
                    <a:p>
                      <a:pPr algn="l" indent="0" marL="0">
                        <a:buNone/>
                      </a:pPr>
                      <a:r>
                        <a:rPr lang="en-US" sz="1000" b="1" dirty="0">
                          <a:solidFill>
                            <a:srgbClr val="1B2A41"/>
                          </a:solidFill>
                        </a:rPr>
                        <a:t>EN → EN</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0.35</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0.59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HI → HI</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0.25</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0.49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0.38</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EN → HI (0-shot)</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0.39</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0.04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0.52</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0.44</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HI → EN (0-shot)</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0.26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0.60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5" name="Text 2"/>
          <p:cNvSpPr txBox="1"/>
          <p:nvPr/>
        </p:nvSpPr>
        <p:spPr>
          <a:xfrm>
            <a:off x="4709160" y="868680"/>
            <a:ext cx="3977640" cy="256032"/>
          </a:xfrm>
          <a:prstGeom prst="rect">
            <a:avLst/>
          </a:prstGeom>
          <a:noFill/>
          <a:ln/>
        </p:spPr>
        <p:txBody>
          <a:bodyPr wrap="square" lIns="0" tIns="0" rIns="0" bIns="0" rtlCol="0" anchor="ctr"/>
          <a:lstStyle/>
          <a:p>
            <a:pPr indent="0" marL="0">
              <a:buNone/>
            </a:pPr>
            <a:r>
              <a:rPr lang="en-US" sz="1150" b="1" dirty="0">
                <a:solidFill>
                  <a:schemeClr val="tx1"/>
                </a:solidFill>
              </a:rPr>
              <a:t>E3 · Domain and out-of-language transfer (Pearson r)</a:t>
            </a:r>
            <a:endParaRPr lang="en-US" sz="1150" dirty="0"/>
          </a:p>
        </p:txBody>
      </p:sp>
      <p:graphicFrame>
        <p:nvGraphicFramePr>
          <p:cNvPr id="19" name="e3-table"/>
          <p:cNvGraphicFramePr>
            <a:graphicFrameLocks noGrp="1"/>
          </p:cNvGraphicFramePr>
          <p:nvPr>
            <p:extLst>
              <p:ext uri="{D42A27DB-BD31-4B8C-83A1-F6EECF244321}">
                <p14:modId xmlns:p14="http://schemas.microsoft.com/office/powerpoint/2010/main" val="1579011935"/>
              </p:ext>
            </p:extLst>
          </p:nvPr>
        </p:nvGraphicFramePr>
        <p:xfrm>
          <a:off x="4709160" y="1161288"/>
          <a:ext cx="3977640" cy="914400"/>
        </p:xfrm>
        <a:graphic>
          <a:graphicData uri="http://schemas.openxmlformats.org/drawingml/2006/table">
            <a:tbl>
              <a:tblPr/>
              <a:tblGrid>
                <a:gridCol w="1600200"/>
                <a:gridCol w="594360"/>
                <a:gridCol w="594360"/>
                <a:gridCol w="594360"/>
                <a:gridCol w="594360"/>
              </a:tblGrid>
              <a:tr h="301752">
                <a:tc>
                  <a:txBody>
                    <a:bodyPr/>
                    <a:lstStyle/>
                    <a:p>
                      <a:pPr algn="l" indent="0" marL="0">
                        <a:buNone/>
                      </a:pPr>
                      <a:r>
                        <a:rPr lang="en-US" sz="1000" b="1" dirty="0">
                          <a:solidFill>
                            <a:srgbClr val="FFFFFF"/>
                          </a:solidFill>
                        </a:rPr>
                        <a:t>Train → test</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chrF</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Emb. cos</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LD-GBR</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c>
                  <a:txBody>
                    <a:bodyPr/>
                    <a:lstStyle/>
                    <a:p>
                      <a:pPr algn="ctr" indent="0" marL="0">
                        <a:buNone/>
                      </a:pPr>
                      <a:r>
                        <a:rPr lang="en-US" sz="1000" b="1" dirty="0">
                          <a:solidFill>
                            <a:srgbClr val="FFFFFF"/>
                          </a:solidFill>
                        </a:rPr>
                        <a:t>MLJB+LD</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rgbClr val="1B2A41"/>
                    </a:solidFill>
                  </a:tcPr>
                </a:tc>
              </a:tr>
              <a:tr h="301752">
                <a:tc>
                  <a:txBody>
                    <a:bodyPr/>
                    <a:lstStyle/>
                    <a:p>
                      <a:pPr algn="l" indent="0" marL="0">
                        <a:buNone/>
                      </a:pPr>
                      <a:r>
                        <a:rPr lang="en-US" sz="1000" b="1" dirty="0">
                          <a:solidFill>
                            <a:srgbClr val="1B2A41"/>
                          </a:solidFill>
                        </a:rPr>
                        <a:t>Insurance → tenancy</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0.20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0.57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0.57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Tenancy → insurance</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0.36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0.17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0.51</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EnHi → FrJUDGE (human)</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-0.17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0.61</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0.60</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r h="301752">
                <a:tc>
                  <a:txBody>
                    <a:bodyPr/>
                    <a:lstStyle/>
                    <a:p>
                      <a:pPr algn="l" indent="0" marL="0">
                        <a:buNone/>
                      </a:pPr>
                      <a:r>
                        <a:rPr lang="en-US" sz="1000" b="1" dirty="0">
                          <a:solidFill>
                            <a:srgbClr val="1B2A41"/>
                          </a:solidFill>
                        </a:rPr>
                        <a:t>FrJUDGE → FrJUDGE</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0.47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-0.17</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dirty="0">
                          <a:solidFill>
                            <a:srgbClr val="1B2A41"/>
                          </a:solidFill>
                        </a:rPr>
                        <a:t>0.56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c>
                  <a:txBody>
                    <a:bodyPr/>
                    <a:lstStyle/>
                    <a:p>
                      <a:pPr algn="ctr" indent="0" marL="0">
                        <a:buNone/>
                      </a:pPr>
                      <a:r>
                        <a:rPr lang="en-US" sz="1000" b="1" dirty="0">
                          <a:solidFill>
                            <a:srgbClr val="2A7F7A"/>
                          </a:solidFill>
                        </a:rPr>
                        <a:t>0.56</a:t>
                      </a:r>
                      <a:endParaRPr lang="en-US" sz="1000" dirty="0"/>
                    </a:p>
                  </a:txBody>
                  <a:tcPr marL="36576" marR="36576"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tcPr>
                </a:tc>
              </a:tr>
            </a:tbl>
          </a:graphicData>
        </a:graphic>
      </p:graphicFrame>
      <p:sp>
        <p:nvSpPr>
          <p:cNvPr id="7" name="Text 3"/>
          <p:cNvSpPr txBox="1"/>
          <p:nvPr/>
        </p:nvSpPr>
        <p:spPr>
          <a:xfrm>
            <a:off x="457200" y="2743200"/>
            <a:ext cx="8229600" cy="256032"/>
          </a:xfrm>
          <a:prstGeom prst="rect">
            <a:avLst/>
          </a:prstGeom>
          <a:noFill/>
          <a:ln/>
        </p:spPr>
        <p:txBody>
          <a:bodyPr wrap="square" lIns="0" tIns="0" rIns="0" bIns="0" rtlCol="0" anchor="ctr"/>
          <a:lstStyle/>
          <a:p>
            <a:pPr indent="0" marL="0">
              <a:buNone/>
            </a:pPr>
            <a:r>
              <a:rPr lang="en-US" sz="1150" b="1" dirty="0">
                <a:solidFill>
                  <a:schemeClr val="tx1"/>
                </a:solidFill>
              </a:rPr>
              <a:t>E4 · Sanity checks on 160 identical (gold 10) and 160 unrelated (gold 1) held-out pairs</a:t>
            </a:r>
            <a:endParaRPr lang="en-US" sz="1150" dirty="0"/>
          </a:p>
        </p:txBody>
      </p:sp>
      <p:sp>
        <p:nvSpPr>
          <p:cNvPr id="8" name="san-0"/>
          <p:cNvSpPr/>
          <p:nvPr/>
        </p:nvSpPr>
        <p:spPr>
          <a:xfrm>
            <a:off x="457200" y="3054096"/>
            <a:ext cx="1572768" cy="914400"/>
          </a:xfrm>
          <a:prstGeom prst="roundRect">
            <a:avLst>
              <a:gd name="adj" fmla="val 8000"/>
            </a:avLst>
          </a:prstGeom>
          <a:solidFill>
            <a:schemeClr val="bg2"/>
          </a:solidFill>
          <a:ln/>
        </p:spPr>
      </p:sp>
      <p:sp>
        <p:nvSpPr>
          <p:cNvPr id="9" name="Text 5"/>
          <p:cNvSpPr txBox="1"/>
          <p:nvPr/>
        </p:nvSpPr>
        <p:spPr>
          <a:xfrm>
            <a:off x="530352" y="3081528"/>
            <a:ext cx="1463040" cy="228600"/>
          </a:xfrm>
          <a:prstGeom prst="rect">
            <a:avLst/>
          </a:prstGeom>
          <a:noFill/>
          <a:ln/>
        </p:spPr>
        <p:txBody>
          <a:bodyPr wrap="square" lIns="0" tIns="0" rIns="0" bIns="0" rtlCol="0" anchor="ctr"/>
          <a:lstStyle/>
          <a:p>
            <a:pPr indent="0" marL="0">
              <a:buNone/>
            </a:pPr>
            <a:r>
              <a:rPr lang="en-US" sz="1000" b="1" dirty="0">
                <a:solidFill>
                  <a:schemeClr val="tx1"/>
                </a:solidFill>
              </a:rPr>
              <a:t>Embedding cosine</a:t>
            </a:r>
            <a:endParaRPr lang="en-US" sz="1000" dirty="0"/>
          </a:p>
        </p:txBody>
      </p:sp>
      <p:sp>
        <p:nvSpPr>
          <p:cNvPr id="10" name="Text 6"/>
          <p:cNvSpPr txBox="1"/>
          <p:nvPr/>
        </p:nvSpPr>
        <p:spPr>
          <a:xfrm>
            <a:off x="530352" y="3319272"/>
            <a:ext cx="1463040" cy="274320"/>
          </a:xfrm>
          <a:prstGeom prst="rect">
            <a:avLst/>
          </a:prstGeom>
          <a:noFill/>
          <a:ln/>
        </p:spPr>
        <p:txBody>
          <a:bodyPr wrap="square" lIns="0" tIns="0" rIns="0" bIns="0" rtlCol="0" anchor="ctr"/>
          <a:lstStyle/>
          <a:p>
            <a:pPr indent="0" marL="0">
              <a:buNone/>
            </a:pPr>
            <a:r>
              <a:rPr lang="en-US" sz="950" dirty="0">
                <a:solidFill>
                  <a:srgbClr val="8E9AAF"/>
                </a:solidFill>
              </a:rPr>
              <a:t>identical </a:t>
            </a:r>
            <a:pPr indent="0" marL="0">
              <a:buNone/>
            </a:pPr>
            <a:r>
              <a:rPr lang="en-US" sz="1500" b="1" dirty="0">
                <a:solidFill>
                  <a:srgbClr val="B5452F"/>
                </a:solidFill>
              </a:rPr>
              <a:t>7.10</a:t>
            </a:r>
            <a:endParaRPr lang="en-US" sz="950" dirty="0"/>
          </a:p>
        </p:txBody>
      </p:sp>
      <p:sp>
        <p:nvSpPr>
          <p:cNvPr id="11" name="Text 7"/>
          <p:cNvSpPr txBox="1"/>
          <p:nvPr/>
        </p:nvSpPr>
        <p:spPr>
          <a:xfrm>
            <a:off x="530352" y="3611880"/>
            <a:ext cx="1463040" cy="274320"/>
          </a:xfrm>
          <a:prstGeom prst="rect">
            <a:avLst/>
          </a:prstGeom>
          <a:noFill/>
          <a:ln/>
        </p:spPr>
        <p:txBody>
          <a:bodyPr wrap="square" lIns="0" tIns="0" rIns="0" bIns="0" rtlCol="0" anchor="ctr"/>
          <a:lstStyle/>
          <a:p>
            <a:pPr indent="0" marL="0">
              <a:buNone/>
            </a:pPr>
            <a:r>
              <a:rPr lang="en-US" sz="950" dirty="0">
                <a:solidFill>
                  <a:srgbClr val="8E9AAF"/>
                </a:solidFill>
              </a:rPr>
              <a:t>unrelated </a:t>
            </a:r>
            <a:pPr indent="0" marL="0">
              <a:buNone/>
            </a:pPr>
            <a:r>
              <a:rPr lang="en-US" sz="1500" b="1" dirty="0">
                <a:solidFill>
                  <a:srgbClr val="B5452F"/>
                </a:solidFill>
              </a:rPr>
              <a:t>4.36</a:t>
            </a:r>
            <a:endParaRPr lang="en-US" sz="950" dirty="0"/>
          </a:p>
        </p:txBody>
      </p:sp>
      <p:sp>
        <p:nvSpPr>
          <p:cNvPr id="12" name="san-1"/>
          <p:cNvSpPr/>
          <p:nvPr/>
        </p:nvSpPr>
        <p:spPr>
          <a:xfrm>
            <a:off x="2121408" y="3054096"/>
            <a:ext cx="1572768" cy="914400"/>
          </a:xfrm>
          <a:prstGeom prst="roundRect">
            <a:avLst>
              <a:gd name="adj" fmla="val 8000"/>
            </a:avLst>
          </a:prstGeom>
          <a:solidFill>
            <a:schemeClr val="bg2"/>
          </a:solidFill>
          <a:ln/>
        </p:spPr>
      </p:sp>
      <p:sp>
        <p:nvSpPr>
          <p:cNvPr id="13" name="Text 9"/>
          <p:cNvSpPr txBox="1"/>
          <p:nvPr/>
        </p:nvSpPr>
        <p:spPr>
          <a:xfrm>
            <a:off x="2194560" y="3081528"/>
            <a:ext cx="1463040" cy="228600"/>
          </a:xfrm>
          <a:prstGeom prst="rect">
            <a:avLst/>
          </a:prstGeom>
          <a:noFill/>
          <a:ln/>
        </p:spPr>
        <p:txBody>
          <a:bodyPr wrap="square" lIns="0" tIns="0" rIns="0" bIns="0" rtlCol="0" anchor="ctr"/>
          <a:lstStyle/>
          <a:p>
            <a:pPr indent="0" marL="0">
              <a:buNone/>
            </a:pPr>
            <a:r>
              <a:rPr lang="en-US" sz="1000" b="1" dirty="0">
                <a:solidFill>
                  <a:schemeClr val="tx1"/>
                </a:solidFill>
              </a:rPr>
              <a:t>chrF</a:t>
            </a:r>
            <a:endParaRPr lang="en-US" sz="1000" dirty="0"/>
          </a:p>
        </p:txBody>
      </p:sp>
      <p:sp>
        <p:nvSpPr>
          <p:cNvPr id="14" name="Text 10"/>
          <p:cNvSpPr txBox="1"/>
          <p:nvPr/>
        </p:nvSpPr>
        <p:spPr>
          <a:xfrm>
            <a:off x="2194560" y="3319272"/>
            <a:ext cx="1463040" cy="274320"/>
          </a:xfrm>
          <a:prstGeom prst="rect">
            <a:avLst/>
          </a:prstGeom>
          <a:noFill/>
          <a:ln/>
        </p:spPr>
        <p:txBody>
          <a:bodyPr wrap="square" lIns="0" tIns="0" rIns="0" bIns="0" rtlCol="0" anchor="ctr"/>
          <a:lstStyle/>
          <a:p>
            <a:pPr indent="0" marL="0">
              <a:buNone/>
            </a:pPr>
            <a:r>
              <a:rPr lang="en-US" sz="950" dirty="0">
                <a:solidFill>
                  <a:srgbClr val="8E9AAF"/>
                </a:solidFill>
              </a:rPr>
              <a:t>identical </a:t>
            </a:r>
            <a:pPr indent="0" marL="0">
              <a:buNone/>
            </a:pPr>
            <a:r>
              <a:rPr lang="en-US" sz="1500" b="1" dirty="0">
                <a:solidFill>
                  <a:srgbClr val="4F8A3C"/>
                </a:solidFill>
              </a:rPr>
              <a:t>10.00</a:t>
            </a:r>
            <a:endParaRPr lang="en-US" sz="950" dirty="0"/>
          </a:p>
        </p:txBody>
      </p:sp>
      <p:sp>
        <p:nvSpPr>
          <p:cNvPr id="15" name="Text 11"/>
          <p:cNvSpPr txBox="1"/>
          <p:nvPr/>
        </p:nvSpPr>
        <p:spPr>
          <a:xfrm>
            <a:off x="2194560" y="3611880"/>
            <a:ext cx="1463040" cy="274320"/>
          </a:xfrm>
          <a:prstGeom prst="rect">
            <a:avLst/>
          </a:prstGeom>
          <a:noFill/>
          <a:ln/>
        </p:spPr>
        <p:txBody>
          <a:bodyPr wrap="square" lIns="0" tIns="0" rIns="0" bIns="0" rtlCol="0" anchor="ctr"/>
          <a:lstStyle/>
          <a:p>
            <a:pPr indent="0" marL="0">
              <a:buNone/>
            </a:pPr>
            <a:r>
              <a:rPr lang="en-US" sz="950" dirty="0">
                <a:solidFill>
                  <a:srgbClr val="8E9AAF"/>
                </a:solidFill>
              </a:rPr>
              <a:t>unrelated </a:t>
            </a:r>
            <a:pPr indent="0" marL="0">
              <a:buNone/>
            </a:pPr>
            <a:r>
              <a:rPr lang="en-US" sz="1500" b="1" dirty="0">
                <a:solidFill>
                  <a:srgbClr val="B5452F"/>
                </a:solidFill>
              </a:rPr>
              <a:t>2.89</a:t>
            </a:r>
            <a:endParaRPr lang="en-US" sz="950" dirty="0"/>
          </a:p>
        </p:txBody>
      </p:sp>
      <p:sp>
        <p:nvSpPr>
          <p:cNvPr id="16" name="san-2"/>
          <p:cNvSpPr/>
          <p:nvPr/>
        </p:nvSpPr>
        <p:spPr>
          <a:xfrm>
            <a:off x="3785616" y="3054096"/>
            <a:ext cx="1572768" cy="914400"/>
          </a:xfrm>
          <a:prstGeom prst="roundRect">
            <a:avLst>
              <a:gd name="adj" fmla="val 8000"/>
            </a:avLst>
          </a:prstGeom>
          <a:solidFill>
            <a:schemeClr val="bg2"/>
          </a:solidFill>
          <a:ln/>
        </p:spPr>
      </p:sp>
      <p:sp>
        <p:nvSpPr>
          <p:cNvPr id="17" name="Text 13"/>
          <p:cNvSpPr txBox="1"/>
          <p:nvPr/>
        </p:nvSpPr>
        <p:spPr>
          <a:xfrm>
            <a:off x="3858768" y="3081528"/>
            <a:ext cx="1463040" cy="228600"/>
          </a:xfrm>
          <a:prstGeom prst="rect">
            <a:avLst/>
          </a:prstGeom>
          <a:noFill/>
          <a:ln/>
        </p:spPr>
        <p:txBody>
          <a:bodyPr wrap="square" lIns="0" tIns="0" rIns="0" bIns="0" rtlCol="0" anchor="ctr"/>
          <a:lstStyle/>
          <a:p>
            <a:pPr indent="0" marL="0">
              <a:buNone/>
            </a:pPr>
            <a:r>
              <a:rPr lang="en-US" sz="1000" b="1" dirty="0">
                <a:solidFill>
                  <a:schemeClr val="tx1"/>
                </a:solidFill>
              </a:rPr>
              <a:t>LegalDiff-GBR</a:t>
            </a:r>
            <a:endParaRPr lang="en-US" sz="1000" dirty="0"/>
          </a:p>
        </p:txBody>
      </p:sp>
      <p:sp>
        <p:nvSpPr>
          <p:cNvPr id="18" name="Text 14"/>
          <p:cNvSpPr txBox="1"/>
          <p:nvPr/>
        </p:nvSpPr>
        <p:spPr>
          <a:xfrm>
            <a:off x="3858768" y="3319272"/>
            <a:ext cx="1463040" cy="274320"/>
          </a:xfrm>
          <a:prstGeom prst="rect">
            <a:avLst/>
          </a:prstGeom>
          <a:noFill/>
          <a:ln/>
        </p:spPr>
        <p:txBody>
          <a:bodyPr wrap="square" lIns="0" tIns="0" rIns="0" bIns="0" rtlCol="0" anchor="ctr"/>
          <a:lstStyle/>
          <a:p>
            <a:pPr indent="0" marL="0">
              <a:buNone/>
            </a:pPr>
            <a:r>
              <a:rPr lang="en-US" sz="950" dirty="0">
                <a:solidFill>
                  <a:srgbClr val="8E9AAF"/>
                </a:solidFill>
              </a:rPr>
              <a:t>identical </a:t>
            </a:r>
            <a:pPr indent="0" marL="0">
              <a:buNone/>
            </a:pPr>
            <a:r>
              <a:rPr lang="en-US" sz="1500" b="1" dirty="0">
                <a:solidFill>
                  <a:srgbClr val="4F8A3C"/>
                </a:solidFill>
              </a:rPr>
              <a:t>10.00</a:t>
            </a:r>
            <a:endParaRPr lang="en-US" sz="950" dirty="0"/>
          </a:p>
        </p:txBody>
      </p:sp>
      <p:sp>
        <p:nvSpPr>
          <p:cNvPr id="19" name="Text 15"/>
          <p:cNvSpPr txBox="1"/>
          <p:nvPr/>
        </p:nvSpPr>
        <p:spPr>
          <a:xfrm>
            <a:off x="3858768" y="3611880"/>
            <a:ext cx="1463040" cy="274320"/>
          </a:xfrm>
          <a:prstGeom prst="rect">
            <a:avLst/>
          </a:prstGeom>
          <a:noFill/>
          <a:ln/>
        </p:spPr>
        <p:txBody>
          <a:bodyPr wrap="square" lIns="0" tIns="0" rIns="0" bIns="0" rtlCol="0" anchor="ctr"/>
          <a:lstStyle/>
          <a:p>
            <a:pPr indent="0" marL="0">
              <a:buNone/>
            </a:pPr>
            <a:r>
              <a:rPr lang="en-US" sz="950" dirty="0">
                <a:solidFill>
                  <a:srgbClr val="8E9AAF"/>
                </a:solidFill>
              </a:rPr>
              <a:t>unrelated </a:t>
            </a:r>
            <a:pPr indent="0" marL="0">
              <a:buNone/>
            </a:pPr>
            <a:r>
              <a:rPr lang="en-US" sz="1500" b="1" dirty="0">
                <a:solidFill>
                  <a:srgbClr val="4F8A3C"/>
                </a:solidFill>
              </a:rPr>
              <a:t>1.18</a:t>
            </a:r>
            <a:endParaRPr lang="en-US" sz="950" dirty="0"/>
          </a:p>
        </p:txBody>
      </p:sp>
      <p:sp>
        <p:nvSpPr>
          <p:cNvPr id="20" name="san-3"/>
          <p:cNvSpPr/>
          <p:nvPr/>
        </p:nvSpPr>
        <p:spPr>
          <a:xfrm>
            <a:off x="5449824" y="3054096"/>
            <a:ext cx="1572768" cy="914400"/>
          </a:xfrm>
          <a:prstGeom prst="roundRect">
            <a:avLst>
              <a:gd name="adj" fmla="val 8000"/>
            </a:avLst>
          </a:prstGeom>
          <a:solidFill>
            <a:srgbClr val="E3F0EE"/>
          </a:solidFill>
          <a:ln/>
        </p:spPr>
      </p:sp>
      <p:sp>
        <p:nvSpPr>
          <p:cNvPr id="21" name="Text 17"/>
          <p:cNvSpPr txBox="1"/>
          <p:nvPr/>
        </p:nvSpPr>
        <p:spPr>
          <a:xfrm>
            <a:off x="5522976" y="3081528"/>
            <a:ext cx="1463040" cy="228600"/>
          </a:xfrm>
          <a:prstGeom prst="rect">
            <a:avLst/>
          </a:prstGeom>
          <a:noFill/>
          <a:ln/>
        </p:spPr>
        <p:txBody>
          <a:bodyPr wrap="square" lIns="0" tIns="0" rIns="0" bIns="0" rtlCol="0" anchor="ctr"/>
          <a:lstStyle/>
          <a:p>
            <a:pPr indent="0" marL="0">
              <a:buNone/>
            </a:pPr>
            <a:r>
              <a:rPr lang="en-US" sz="1000" b="1" dirty="0">
                <a:solidFill>
                  <a:schemeClr val="tx1"/>
                </a:solidFill>
              </a:rPr>
              <a:t>MLJB + LD (with DA)</a:t>
            </a:r>
            <a:endParaRPr lang="en-US" sz="1000" dirty="0"/>
          </a:p>
        </p:txBody>
      </p:sp>
      <p:sp>
        <p:nvSpPr>
          <p:cNvPr id="22" name="Text 18"/>
          <p:cNvSpPr txBox="1"/>
          <p:nvPr/>
        </p:nvSpPr>
        <p:spPr>
          <a:xfrm>
            <a:off x="5522976" y="3319272"/>
            <a:ext cx="1463040" cy="274320"/>
          </a:xfrm>
          <a:prstGeom prst="rect">
            <a:avLst/>
          </a:prstGeom>
          <a:noFill/>
          <a:ln/>
        </p:spPr>
        <p:txBody>
          <a:bodyPr wrap="square" lIns="0" tIns="0" rIns="0" bIns="0" rtlCol="0" anchor="ctr"/>
          <a:lstStyle/>
          <a:p>
            <a:pPr indent="0" marL="0">
              <a:buNone/>
            </a:pPr>
            <a:r>
              <a:rPr lang="en-US" sz="950" dirty="0">
                <a:solidFill>
                  <a:srgbClr val="8E9AAF"/>
                </a:solidFill>
              </a:rPr>
              <a:t>identical </a:t>
            </a:r>
            <a:pPr indent="0" marL="0">
              <a:buNone/>
            </a:pPr>
            <a:r>
              <a:rPr lang="en-US" sz="1500" b="1" dirty="0">
                <a:solidFill>
                  <a:srgbClr val="4F8A3C"/>
                </a:solidFill>
              </a:rPr>
              <a:t>9.98</a:t>
            </a:r>
            <a:endParaRPr lang="en-US" sz="950" dirty="0"/>
          </a:p>
        </p:txBody>
      </p:sp>
      <p:sp>
        <p:nvSpPr>
          <p:cNvPr id="23" name="Text 19"/>
          <p:cNvSpPr txBox="1"/>
          <p:nvPr/>
        </p:nvSpPr>
        <p:spPr>
          <a:xfrm>
            <a:off x="5522976" y="3611880"/>
            <a:ext cx="1463040" cy="274320"/>
          </a:xfrm>
          <a:prstGeom prst="rect">
            <a:avLst/>
          </a:prstGeom>
          <a:noFill/>
          <a:ln/>
        </p:spPr>
        <p:txBody>
          <a:bodyPr wrap="square" lIns="0" tIns="0" rIns="0" bIns="0" rtlCol="0" anchor="ctr"/>
          <a:lstStyle/>
          <a:p>
            <a:pPr indent="0" marL="0">
              <a:buNone/>
            </a:pPr>
            <a:r>
              <a:rPr lang="en-US" sz="950" dirty="0">
                <a:solidFill>
                  <a:srgbClr val="8E9AAF"/>
                </a:solidFill>
              </a:rPr>
              <a:t>unrelated </a:t>
            </a:r>
            <a:pPr indent="0" marL="0">
              <a:buNone/>
            </a:pPr>
            <a:r>
              <a:rPr lang="en-US" sz="1500" b="1" dirty="0">
                <a:solidFill>
                  <a:srgbClr val="4F8A3C"/>
                </a:solidFill>
              </a:rPr>
              <a:t>1.53</a:t>
            </a:r>
            <a:endParaRPr lang="en-US" sz="950" dirty="0"/>
          </a:p>
        </p:txBody>
      </p:sp>
      <p:sp>
        <p:nvSpPr>
          <p:cNvPr id="24" name="san-4"/>
          <p:cNvSpPr/>
          <p:nvPr/>
        </p:nvSpPr>
        <p:spPr>
          <a:xfrm>
            <a:off x="7114032" y="3054096"/>
            <a:ext cx="1572768" cy="914400"/>
          </a:xfrm>
          <a:prstGeom prst="roundRect">
            <a:avLst>
              <a:gd name="adj" fmla="val 8000"/>
            </a:avLst>
          </a:prstGeom>
          <a:solidFill>
            <a:schemeClr val="bg2"/>
          </a:solidFill>
          <a:ln/>
        </p:spPr>
      </p:sp>
      <p:sp>
        <p:nvSpPr>
          <p:cNvPr id="25" name="Text 21"/>
          <p:cNvSpPr txBox="1"/>
          <p:nvPr/>
        </p:nvSpPr>
        <p:spPr>
          <a:xfrm>
            <a:off x="7187184" y="3081528"/>
            <a:ext cx="1463040" cy="228600"/>
          </a:xfrm>
          <a:prstGeom prst="rect">
            <a:avLst/>
          </a:prstGeom>
          <a:noFill/>
          <a:ln/>
        </p:spPr>
        <p:txBody>
          <a:bodyPr wrap="square" lIns="0" tIns="0" rIns="0" bIns="0" rtlCol="0" anchor="ctr"/>
          <a:lstStyle/>
          <a:p>
            <a:pPr indent="0" marL="0">
              <a:buNone/>
            </a:pPr>
            <a:r>
              <a:rPr lang="en-US" sz="1000" b="1" dirty="0">
                <a:solidFill>
                  <a:schemeClr val="tx1"/>
                </a:solidFill>
              </a:rPr>
              <a:t>MLJB + LD (no DA)</a:t>
            </a:r>
            <a:endParaRPr lang="en-US" sz="1000" dirty="0"/>
          </a:p>
        </p:txBody>
      </p:sp>
      <p:sp>
        <p:nvSpPr>
          <p:cNvPr id="26" name="Text 22"/>
          <p:cNvSpPr txBox="1"/>
          <p:nvPr/>
        </p:nvSpPr>
        <p:spPr>
          <a:xfrm>
            <a:off x="7187184" y="3319272"/>
            <a:ext cx="1463040" cy="274320"/>
          </a:xfrm>
          <a:prstGeom prst="rect">
            <a:avLst/>
          </a:prstGeom>
          <a:noFill/>
          <a:ln/>
        </p:spPr>
        <p:txBody>
          <a:bodyPr wrap="square" lIns="0" tIns="0" rIns="0" bIns="0" rtlCol="0" anchor="ctr"/>
          <a:lstStyle/>
          <a:p>
            <a:pPr indent="0" marL="0">
              <a:buNone/>
            </a:pPr>
            <a:r>
              <a:rPr lang="en-US" sz="950" dirty="0">
                <a:solidFill>
                  <a:srgbClr val="8E9AAF"/>
                </a:solidFill>
              </a:rPr>
              <a:t>identical </a:t>
            </a:r>
            <a:pPr indent="0" marL="0">
              <a:buNone/>
            </a:pPr>
            <a:r>
              <a:rPr lang="en-US" sz="1500" b="1" dirty="0">
                <a:solidFill>
                  <a:srgbClr val="4F8A3C"/>
                </a:solidFill>
              </a:rPr>
              <a:t>9.91</a:t>
            </a:r>
            <a:endParaRPr lang="en-US" sz="950" dirty="0"/>
          </a:p>
        </p:txBody>
      </p:sp>
      <p:sp>
        <p:nvSpPr>
          <p:cNvPr id="27" name="Text 23"/>
          <p:cNvSpPr txBox="1"/>
          <p:nvPr/>
        </p:nvSpPr>
        <p:spPr>
          <a:xfrm>
            <a:off x="7187184" y="3611880"/>
            <a:ext cx="1463040" cy="274320"/>
          </a:xfrm>
          <a:prstGeom prst="rect">
            <a:avLst/>
          </a:prstGeom>
          <a:noFill/>
          <a:ln/>
        </p:spPr>
        <p:txBody>
          <a:bodyPr wrap="square" lIns="0" tIns="0" rIns="0" bIns="0" rtlCol="0" anchor="ctr"/>
          <a:lstStyle/>
          <a:p>
            <a:pPr indent="0" marL="0">
              <a:buNone/>
            </a:pPr>
            <a:r>
              <a:rPr lang="en-US" sz="950" dirty="0">
                <a:solidFill>
                  <a:srgbClr val="8E9AAF"/>
                </a:solidFill>
              </a:rPr>
              <a:t>unrelated </a:t>
            </a:r>
            <a:pPr indent="0" marL="0">
              <a:buNone/>
            </a:pPr>
            <a:r>
              <a:rPr lang="en-US" sz="1500" b="1" dirty="0">
                <a:solidFill>
                  <a:srgbClr val="4F8A3C"/>
                </a:solidFill>
              </a:rPr>
              <a:t>1.65</a:t>
            </a:r>
            <a:endParaRPr lang="en-US" sz="950" dirty="0"/>
          </a:p>
        </p:txBody>
      </p:sp>
      <p:sp>
        <p:nvSpPr>
          <p:cNvPr id="28" name="e2-verdict"/>
          <p:cNvSpPr/>
          <p:nvPr/>
        </p:nvSpPr>
        <p:spPr>
          <a:xfrm>
            <a:off x="457200" y="4069080"/>
            <a:ext cx="8229600" cy="566928"/>
          </a:xfrm>
          <a:prstGeom prst="roundRect">
            <a:avLst>
              <a:gd name="adj" fmla="val 12903"/>
            </a:avLst>
          </a:prstGeom>
          <a:solidFill>
            <a:schemeClr val="tx1"/>
          </a:solidFill>
          <a:ln/>
        </p:spPr>
      </p:sp>
      <p:sp>
        <p:nvSpPr>
          <p:cNvPr id="29" name="Text 25"/>
          <p:cNvSpPr txBox="1"/>
          <p:nvPr/>
        </p:nvSpPr>
        <p:spPr>
          <a:xfrm>
            <a:off x="621792" y="4078224"/>
            <a:ext cx="7909560" cy="548640"/>
          </a:xfrm>
          <a:prstGeom prst="rect">
            <a:avLst/>
          </a:prstGeom>
          <a:noFill/>
          <a:ln/>
        </p:spPr>
        <p:txBody>
          <a:bodyPr wrap="square" lIns="0" tIns="0" rIns="0" bIns="0" rtlCol="0" anchor="ctr"/>
          <a:lstStyle/>
          <a:p>
            <a:pPr indent="0" marL="0">
              <a:buNone/>
            </a:pPr>
            <a:r>
              <a:rPr lang="en-US" sz="1100" dirty="0">
                <a:solidFill>
                  <a:srgbClr val="FFFFFF"/>
                </a:solidFill>
              </a:rPr>
              <a:t>H2 supported for LegalDiff: zero-shot EN→HI r 0.52, HI→EN 0.60; across domains r stays 0.51–0.57. On human-labelled FrJUDGE, models trained only on EnHi reach r 0.60–0.61 while embedding cosine is negative. H3 supported: augmented models score identical ≈ 10, unrelated ≈ 1.2–1.5; embedding cosine rates unrelated Hindi pairs 6.6 / 10.</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E5: error analysis, explanations, conclusion</a:t>
            </a:r>
            <a:endParaRPr lang="en-US" sz="2800" dirty="0"/>
          </a:p>
        </p:txBody>
      </p:sp>
      <p:graphicFrame>
        <p:nvGraphicFramePr>
          <p:cNvPr id="3" name="e5-chart" descr=""/>
          <p:cNvGraphicFramePr/>
          <p:nvPr/>
        </p:nvGraphicFramePr>
        <p:xfrm>
          <a:off x="365760" y="841248"/>
          <a:ext cx="4937760" cy="2377440"/>
        </p:xfrm>
        <a:graphic xmlns:a="http://schemas.openxmlformats.org/drawingml/2006/main">
          <a:graphicData uri="http://schemas.openxmlformats.org/drawingml/2006/chart">
            <c:chart xmlns:c="http://schemas.openxmlformats.org/drawingml/2006/chart" r:id="rId1"/>
          </a:graphicData>
        </a:graphic>
      </p:graphicFrame>
      <p:sp>
        <p:nvSpPr>
          <p:cNvPr id="4" name="e5-tile-0"/>
          <p:cNvSpPr/>
          <p:nvPr/>
        </p:nvSpPr>
        <p:spPr>
          <a:xfrm>
            <a:off x="5486400" y="896112"/>
            <a:ext cx="1005840" cy="822960"/>
          </a:xfrm>
          <a:prstGeom prst="roundRect">
            <a:avLst>
              <a:gd name="adj" fmla="val 8889"/>
            </a:avLst>
          </a:prstGeom>
          <a:solidFill>
            <a:schemeClr val="bg2"/>
          </a:solidFill>
          <a:ln/>
        </p:spPr>
      </p:sp>
      <p:sp>
        <p:nvSpPr>
          <p:cNvPr id="5" name="Text 2"/>
          <p:cNvSpPr txBox="1"/>
          <p:nvPr/>
        </p:nvSpPr>
        <p:spPr>
          <a:xfrm>
            <a:off x="5541264" y="914400"/>
            <a:ext cx="914400" cy="411480"/>
          </a:xfrm>
          <a:prstGeom prst="rect">
            <a:avLst/>
          </a:prstGeom>
          <a:noFill/>
          <a:ln/>
        </p:spPr>
        <p:txBody>
          <a:bodyPr wrap="square" lIns="0" tIns="0" rIns="0" bIns="0" rtlCol="0" anchor="ctr"/>
          <a:lstStyle/>
          <a:p>
            <a:pPr algn="ctr" indent="0" marL="0">
              <a:buNone/>
            </a:pPr>
            <a:r>
              <a:rPr lang="en-US" sz="2000" b="1" dirty="0">
                <a:solidFill>
                  <a:schemeClr val="accent2"/>
                </a:solidFill>
                <a:latin typeface="Cambria" pitchFamily="34" charset="0"/>
                <a:ea typeface="Cambria" pitchFamily="34" charset="-122"/>
                <a:cs typeface="Cambria" pitchFamily="34" charset="-120"/>
              </a:rPr>
              <a:t>0.79</a:t>
            </a:r>
            <a:endParaRPr lang="en-US" sz="2000" dirty="0"/>
          </a:p>
        </p:txBody>
      </p:sp>
      <p:sp>
        <p:nvSpPr>
          <p:cNvPr id="6" name="Text 3"/>
          <p:cNvSpPr txBox="1"/>
          <p:nvPr/>
        </p:nvSpPr>
        <p:spPr>
          <a:xfrm>
            <a:off x="5522976" y="1325880"/>
            <a:ext cx="932688" cy="365760"/>
          </a:xfrm>
          <a:prstGeom prst="rect">
            <a:avLst/>
          </a:prstGeom>
          <a:noFill/>
          <a:ln/>
        </p:spPr>
        <p:txBody>
          <a:bodyPr wrap="square" lIns="0" tIns="0" rIns="0" bIns="0" rtlCol="0" anchor="ctr"/>
          <a:lstStyle/>
          <a:p>
            <a:pPr algn="ctr" indent="0" marL="0">
              <a:buNone/>
            </a:pPr>
            <a:r>
              <a:rPr lang="en-US" sz="1000" dirty="0">
                <a:solidFill>
                  <a:schemeClr val="tx2"/>
                </a:solidFill>
              </a:rPr>
              <a:t>error-detection F1</a:t>
            </a:r>
            <a:endParaRPr lang="en-US" sz="1000" dirty="0"/>
          </a:p>
        </p:txBody>
      </p:sp>
      <p:sp>
        <p:nvSpPr>
          <p:cNvPr id="7" name="e5-tile-1"/>
          <p:cNvSpPr/>
          <p:nvPr/>
        </p:nvSpPr>
        <p:spPr>
          <a:xfrm>
            <a:off x="6565392" y="896112"/>
            <a:ext cx="1005840" cy="822960"/>
          </a:xfrm>
          <a:prstGeom prst="roundRect">
            <a:avLst>
              <a:gd name="adj" fmla="val 8889"/>
            </a:avLst>
          </a:prstGeom>
          <a:solidFill>
            <a:schemeClr val="bg2"/>
          </a:solidFill>
          <a:ln/>
        </p:spPr>
      </p:sp>
      <p:sp>
        <p:nvSpPr>
          <p:cNvPr id="8" name="Text 5"/>
          <p:cNvSpPr txBox="1"/>
          <p:nvPr/>
        </p:nvSpPr>
        <p:spPr>
          <a:xfrm>
            <a:off x="6620256" y="914400"/>
            <a:ext cx="914400" cy="411480"/>
          </a:xfrm>
          <a:prstGeom prst="rect">
            <a:avLst/>
          </a:prstGeom>
          <a:noFill/>
          <a:ln/>
        </p:spPr>
        <p:txBody>
          <a:bodyPr wrap="square" lIns="0" tIns="0" rIns="0" bIns="0" rtlCol="0" anchor="ctr"/>
          <a:lstStyle/>
          <a:p>
            <a:pPr algn="ctr" indent="0" marL="0">
              <a:buNone/>
            </a:pPr>
            <a:r>
              <a:rPr lang="en-US" sz="2000" b="1" dirty="0">
                <a:solidFill>
                  <a:schemeClr val="accent2"/>
                </a:solidFill>
                <a:latin typeface="Cambria" pitchFamily="34" charset="0"/>
                <a:ea typeface="Cambria" pitchFamily="34" charset="-122"/>
                <a:cs typeface="Cambria" pitchFamily="34" charset="-120"/>
              </a:rPr>
              <a:t>42%</a:t>
            </a:r>
            <a:endParaRPr lang="en-US" sz="2000" dirty="0"/>
          </a:p>
        </p:txBody>
      </p:sp>
      <p:sp>
        <p:nvSpPr>
          <p:cNvPr id="9" name="Text 6"/>
          <p:cNvSpPr txBox="1"/>
          <p:nvPr/>
        </p:nvSpPr>
        <p:spPr>
          <a:xfrm>
            <a:off x="6601968" y="1325880"/>
            <a:ext cx="932688" cy="365760"/>
          </a:xfrm>
          <a:prstGeom prst="rect">
            <a:avLst/>
          </a:prstGeom>
          <a:noFill/>
          <a:ln/>
        </p:spPr>
        <p:txBody>
          <a:bodyPr wrap="square" lIns="0" tIns="0" rIns="0" bIns="0" rtlCol="0" anchor="ctr"/>
          <a:lstStyle/>
          <a:p>
            <a:pPr algn="ctr" indent="0" marL="0">
              <a:buNone/>
            </a:pPr>
            <a:r>
              <a:rPr lang="en-US" sz="1000" dirty="0">
                <a:solidFill>
                  <a:schemeClr val="tx2"/>
                </a:solidFill>
              </a:rPr>
              <a:t>error type correct</a:t>
            </a:r>
            <a:endParaRPr lang="en-US" sz="1000" dirty="0"/>
          </a:p>
        </p:txBody>
      </p:sp>
      <p:sp>
        <p:nvSpPr>
          <p:cNvPr id="10" name="e5-tile-2"/>
          <p:cNvSpPr/>
          <p:nvPr/>
        </p:nvSpPr>
        <p:spPr>
          <a:xfrm>
            <a:off x="7644384" y="896112"/>
            <a:ext cx="1005840" cy="822960"/>
          </a:xfrm>
          <a:prstGeom prst="roundRect">
            <a:avLst>
              <a:gd name="adj" fmla="val 8889"/>
            </a:avLst>
          </a:prstGeom>
          <a:solidFill>
            <a:schemeClr val="bg2"/>
          </a:solidFill>
          <a:ln/>
        </p:spPr>
      </p:sp>
      <p:sp>
        <p:nvSpPr>
          <p:cNvPr id="11" name="Text 8"/>
          <p:cNvSpPr txBox="1"/>
          <p:nvPr/>
        </p:nvSpPr>
        <p:spPr>
          <a:xfrm>
            <a:off x="7699248" y="914400"/>
            <a:ext cx="914400" cy="411480"/>
          </a:xfrm>
          <a:prstGeom prst="rect">
            <a:avLst/>
          </a:prstGeom>
          <a:noFill/>
          <a:ln/>
        </p:spPr>
        <p:txBody>
          <a:bodyPr wrap="square" lIns="0" tIns="0" rIns="0" bIns="0" rtlCol="0" anchor="ctr"/>
          <a:lstStyle/>
          <a:p>
            <a:pPr algn="ctr" indent="0" marL="0">
              <a:buNone/>
            </a:pPr>
            <a:r>
              <a:rPr lang="en-US" sz="2000" b="1" dirty="0">
                <a:solidFill>
                  <a:schemeClr val="accent2"/>
                </a:solidFill>
                <a:latin typeface="Cambria" pitchFamily="34" charset="0"/>
                <a:ea typeface="Cambria" pitchFamily="34" charset="-122"/>
                <a:cs typeface="Cambria" pitchFamily="34" charset="-120"/>
              </a:rPr>
              <a:t>0.44</a:t>
            </a:r>
            <a:endParaRPr lang="en-US" sz="2000" dirty="0"/>
          </a:p>
        </p:txBody>
      </p:sp>
      <p:sp>
        <p:nvSpPr>
          <p:cNvPr id="12" name="Text 9"/>
          <p:cNvSpPr txBox="1"/>
          <p:nvPr/>
        </p:nvSpPr>
        <p:spPr>
          <a:xfrm>
            <a:off x="7680960" y="1325880"/>
            <a:ext cx="932688" cy="365760"/>
          </a:xfrm>
          <a:prstGeom prst="rect">
            <a:avLst/>
          </a:prstGeom>
          <a:noFill/>
          <a:ln/>
        </p:spPr>
        <p:txBody>
          <a:bodyPr wrap="square" lIns="0" tIns="0" rIns="0" bIns="0" rtlCol="0" anchor="ctr"/>
          <a:lstStyle/>
          <a:p>
            <a:pPr algn="ctr" indent="0" marL="0">
              <a:buNone/>
            </a:pPr>
            <a:r>
              <a:rPr lang="en-US" sz="1000" dirty="0">
                <a:solidFill>
                  <a:schemeClr val="tx2"/>
                </a:solidFill>
              </a:rPr>
              <a:t>type macro-F1 (11)</a:t>
            </a:r>
            <a:endParaRPr lang="en-US" sz="1000" dirty="0"/>
          </a:p>
        </p:txBody>
      </p:sp>
      <p:sp>
        <p:nvSpPr>
          <p:cNvPr id="13" name="ex-0"/>
          <p:cNvSpPr/>
          <p:nvPr/>
        </p:nvSpPr>
        <p:spPr>
          <a:xfrm>
            <a:off x="5486400" y="1828800"/>
            <a:ext cx="3200400" cy="713232"/>
          </a:xfrm>
          <a:prstGeom prst="roundRect">
            <a:avLst>
              <a:gd name="adj" fmla="val 10256"/>
            </a:avLst>
          </a:prstGeom>
          <a:solidFill>
            <a:srgbClr val="FFFFFF"/>
          </a:solidFill>
          <a:ln/>
        </p:spPr>
      </p:sp>
      <p:sp>
        <p:nvSpPr>
          <p:cNvPr id="14" name="ex-border-0"/>
          <p:cNvSpPr/>
          <p:nvPr/>
        </p:nvSpPr>
        <p:spPr>
          <a:xfrm>
            <a:off x="5486400" y="1828800"/>
            <a:ext cx="3200400" cy="713232"/>
          </a:xfrm>
          <a:prstGeom prst="roundRect">
            <a:avLst>
              <a:gd name="adj" fmla="val 10256"/>
            </a:avLst>
          </a:prstGeom>
          <a:ln w="12700">
            <a:solidFill>
              <a:srgbClr val="C9D3DE"/>
            </a:solidFill>
            <a:prstDash val="solid"/>
          </a:ln>
        </p:spPr>
      </p:sp>
      <p:sp>
        <p:nvSpPr>
          <p:cNvPr id="15" name="Text 12"/>
          <p:cNvSpPr txBox="1"/>
          <p:nvPr/>
        </p:nvSpPr>
        <p:spPr>
          <a:xfrm>
            <a:off x="5577840" y="1856232"/>
            <a:ext cx="3035808" cy="658368"/>
          </a:xfrm>
          <a:prstGeom prst="rect">
            <a:avLst/>
          </a:prstGeom>
          <a:noFill/>
          <a:ln/>
        </p:spPr>
        <p:txBody>
          <a:bodyPr wrap="square" lIns="0" tIns="0" rIns="0" bIns="0" rtlCol="0" anchor="ctr"/>
          <a:lstStyle/>
          <a:p>
            <a:pPr indent="0" marL="0">
              <a:buNone/>
            </a:pPr>
            <a:r>
              <a:rPr lang="en-US" sz="1000" dirty="0">
                <a:solidFill>
                  <a:schemeClr val="tx1"/>
                </a:solidFill>
              </a:rPr>
              <a:t>Correct · HI · Negation (gold 1): “संशोधन नहीं किया जाएगा” → “किराया बदल सकता है”. Emb. cos 6.7 | ours 1.0 → NEGATION, rule reversed.</a:t>
            </a:r>
            <a:endParaRPr lang="en-US" sz="1000" dirty="0"/>
          </a:p>
        </p:txBody>
      </p:sp>
      <p:sp>
        <p:nvSpPr>
          <p:cNvPr id="16" name="ex-1"/>
          <p:cNvSpPr/>
          <p:nvPr/>
        </p:nvSpPr>
        <p:spPr>
          <a:xfrm>
            <a:off x="5486400" y="2615184"/>
            <a:ext cx="3200400" cy="713232"/>
          </a:xfrm>
          <a:prstGeom prst="roundRect">
            <a:avLst>
              <a:gd name="adj" fmla="val 10256"/>
            </a:avLst>
          </a:prstGeom>
          <a:solidFill>
            <a:srgbClr val="FFFFFF"/>
          </a:solidFill>
          <a:ln/>
        </p:spPr>
      </p:sp>
      <p:sp>
        <p:nvSpPr>
          <p:cNvPr id="17" name="ex-border-1"/>
          <p:cNvSpPr/>
          <p:nvPr/>
        </p:nvSpPr>
        <p:spPr>
          <a:xfrm>
            <a:off x="5486400" y="2615184"/>
            <a:ext cx="3200400" cy="713232"/>
          </a:xfrm>
          <a:prstGeom prst="roundRect">
            <a:avLst>
              <a:gd name="adj" fmla="val 10256"/>
            </a:avLst>
          </a:prstGeom>
          <a:ln w="12700">
            <a:solidFill>
              <a:srgbClr val="C9D3DE"/>
            </a:solidFill>
            <a:prstDash val="solid"/>
          </a:ln>
        </p:spPr>
      </p:sp>
      <p:sp>
        <p:nvSpPr>
          <p:cNvPr id="18" name="Text 15"/>
          <p:cNvSpPr txBox="1"/>
          <p:nvPr/>
        </p:nvSpPr>
        <p:spPr>
          <a:xfrm>
            <a:off x="5577840" y="2642616"/>
            <a:ext cx="3035808" cy="658368"/>
          </a:xfrm>
          <a:prstGeom prst="rect">
            <a:avLst/>
          </a:prstGeom>
          <a:noFill/>
          <a:ln/>
        </p:spPr>
        <p:txBody>
          <a:bodyPr wrap="square" lIns="0" tIns="0" rIns="0" bIns="0" rtlCol="0" anchor="ctr"/>
          <a:lstStyle/>
          <a:p>
            <a:pPr indent="0" marL="0">
              <a:buNone/>
            </a:pPr>
            <a:r>
              <a:rPr lang="en-US" sz="1000" dirty="0">
                <a:solidFill>
                  <a:schemeClr val="tx1"/>
                </a:solidFill>
              </a:rPr>
              <a:t>Correct · EN · Date (gold 2): lock-in “six months” → “three-month”. Emb. cos 6.6 | ours 1.5 → DATE: 6 → 3.</a:t>
            </a:r>
            <a:endParaRPr lang="en-US" sz="1000" dirty="0"/>
          </a:p>
        </p:txBody>
      </p:sp>
      <p:sp>
        <p:nvSpPr>
          <p:cNvPr id="19" name="ex-2"/>
          <p:cNvSpPr/>
          <p:nvPr/>
        </p:nvSpPr>
        <p:spPr>
          <a:xfrm>
            <a:off x="5486400" y="3401568"/>
            <a:ext cx="3200400" cy="713232"/>
          </a:xfrm>
          <a:prstGeom prst="roundRect">
            <a:avLst>
              <a:gd name="adj" fmla="val 10256"/>
            </a:avLst>
          </a:prstGeom>
          <a:solidFill>
            <a:srgbClr val="FFFFFF"/>
          </a:solidFill>
          <a:ln/>
        </p:spPr>
      </p:sp>
      <p:sp>
        <p:nvSpPr>
          <p:cNvPr id="20" name="ex-border-2"/>
          <p:cNvSpPr/>
          <p:nvPr/>
        </p:nvSpPr>
        <p:spPr>
          <a:xfrm>
            <a:off x="5486400" y="3401568"/>
            <a:ext cx="3200400" cy="713232"/>
          </a:xfrm>
          <a:prstGeom prst="roundRect">
            <a:avLst>
              <a:gd name="adj" fmla="val 10256"/>
            </a:avLst>
          </a:prstGeom>
          <a:ln w="12700">
            <a:solidFill>
              <a:srgbClr val="C9D3DE"/>
            </a:solidFill>
            <a:prstDash val="solid"/>
          </a:ln>
        </p:spPr>
      </p:sp>
      <p:sp>
        <p:nvSpPr>
          <p:cNvPr id="21" name="Text 18"/>
          <p:cNvSpPr txBox="1"/>
          <p:nvPr/>
        </p:nvSpPr>
        <p:spPr>
          <a:xfrm>
            <a:off x="5577840" y="3429000"/>
            <a:ext cx="3035808" cy="658368"/>
          </a:xfrm>
          <a:prstGeom prst="rect">
            <a:avLst/>
          </a:prstGeom>
          <a:noFill/>
          <a:ln/>
        </p:spPr>
        <p:txBody>
          <a:bodyPr wrap="square" lIns="0" tIns="0" rIns="0" bIns="0" rtlCol="0" anchor="ctr"/>
          <a:lstStyle/>
          <a:p>
            <a:pPr indent="0" marL="0">
              <a:buNone/>
            </a:pPr>
            <a:r>
              <a:rPr lang="en-US" sz="1000" dirty="0">
                <a:solidFill>
                  <a:schemeClr val="tx1"/>
                </a:solidFill>
              </a:rPr>
              <a:t>Missed · EN · Negation (gold 1): “does not cover” → “pays for”. Emb. cos 6.1 | ours 8.7: polarity flipped by a verb, not “not”.</a:t>
            </a:r>
            <a:endParaRPr lang="en-US" sz="1000" dirty="0"/>
          </a:p>
        </p:txBody>
      </p:sp>
      <p:sp>
        <p:nvSpPr>
          <p:cNvPr id="22" name="concl-card"/>
          <p:cNvSpPr/>
          <p:nvPr/>
        </p:nvSpPr>
        <p:spPr>
          <a:xfrm>
            <a:off x="457200" y="3264408"/>
            <a:ext cx="4846320" cy="1371600"/>
          </a:xfrm>
          <a:prstGeom prst="roundRect">
            <a:avLst>
              <a:gd name="adj" fmla="val 5333"/>
            </a:avLst>
          </a:prstGeom>
          <a:solidFill>
            <a:schemeClr val="tx1"/>
          </a:solidFill>
          <a:ln/>
        </p:spPr>
      </p:sp>
      <p:sp>
        <p:nvSpPr>
          <p:cNvPr id="23" name="Text 20"/>
          <p:cNvSpPr txBox="1"/>
          <p:nvPr/>
        </p:nvSpPr>
        <p:spPr>
          <a:xfrm>
            <a:off x="594360" y="3310128"/>
            <a:ext cx="4617720" cy="1280160"/>
          </a:xfrm>
          <a:prstGeom prst="rect">
            <a:avLst/>
          </a:prstGeom>
          <a:noFill/>
          <a:ln/>
        </p:spPr>
        <p:txBody>
          <a:bodyPr wrap="square" lIns="0" tIns="0" rIns="0" bIns="0" rtlCol="0" anchor="ctr"/>
          <a:lstStyle/>
          <a:p>
            <a:pPr indent="0" marL="0">
              <a:spcAft>
                <a:spcPts val="200"/>
              </a:spcAft>
              <a:buNone/>
            </a:pPr>
            <a:r>
              <a:rPr lang="en-US" sz="1000" b="1" dirty="0">
                <a:solidFill>
                  <a:srgbClr val="C8892B"/>
                </a:solidFill>
              </a:rPr>
              <a:t>Conclusion</a:t>
            </a:r>
            <a:endParaRPr lang="en-US" sz="1000" dirty="0"/>
          </a:p>
          <a:p>
            <a:pPr marL="127000" indent="-127000">
              <a:spcAft>
                <a:spcPts val="200"/>
              </a:spcAft>
              <a:buSzPct val="100000"/>
              <a:buChar char="•"/>
            </a:pPr>
            <a:r>
              <a:rPr lang="en-US" sz="1000" dirty="0">
                <a:solidFill>
                  <a:srgbClr val="FFFFFF"/>
                </a:solidFill>
              </a:rPr>
              <a:t>Generic similarity is not a legal-meaning metric: r ≤ 0.37; fails on Hindi and sanity checks.</a:t>
            </a:r>
            <a:endParaRPr lang="en-US" sz="1000" dirty="0"/>
          </a:p>
          <a:p>
            <a:pPr marL="127000" indent="-127000">
              <a:spcAft>
                <a:spcPts val="200"/>
              </a:spcAft>
              <a:buSzPct val="100000"/>
              <a:buChar char="•"/>
            </a:pPr>
            <a:r>
              <a:rPr lang="en-US" sz="1000" dirty="0">
                <a:solidFill>
                  <a:srgbClr val="FFFFFF"/>
                </a:solidFill>
              </a:rPr>
              <a:t>Legal-difference modelling is strongest and language-stable: r 0.60; FrJUDGE 0.61.</a:t>
            </a:r>
            <a:endParaRPr lang="en-US" sz="1000" dirty="0"/>
          </a:p>
          <a:p>
            <a:pPr marL="127000" indent="-127000">
              <a:spcAft>
                <a:spcPts val="200"/>
              </a:spcAft>
              <a:buSzPct val="100000"/>
              <a:buChar char="•"/>
            </a:pPr>
            <a:r>
              <a:rPr lang="en-US" sz="1000" dirty="0">
                <a:solidFill>
                  <a:srgbClr val="FFFFFF"/>
                </a:solidFill>
              </a:rPr>
              <a:t>The JUDGEBERT-style encoder needs pretraining: r 0.12 alone, 0.49 with LegalDiff.</a:t>
            </a:r>
            <a:endParaRPr lang="en-US" sz="1000" dirty="0"/>
          </a:p>
          <a:p>
            <a:pPr marL="127000" indent="-127000">
              <a:spcAft>
                <a:spcPts val="200"/>
              </a:spcAft>
              <a:buSzPct val="100000"/>
              <a:buChar char="•"/>
            </a:pPr>
            <a:r>
              <a:rPr lang="en-US" sz="1000" i="1" dirty="0">
                <a:solidFill>
                  <a:srgbClr val="FFFFFF"/>
                </a:solidFill>
              </a:rPr>
              <a:t>Caveat: silver labels, human annotation next. v2 numbers (after code review).</a:t>
            </a:r>
            <a:endParaRPr lang="en-US" sz="1000" dirty="0"/>
          </a:p>
        </p:txBody>
      </p:sp>
      <p:sp>
        <p:nvSpPr>
          <p:cNvPr id="24" name="Text 21"/>
          <p:cNvSpPr txBox="1"/>
          <p:nvPr/>
        </p:nvSpPr>
        <p:spPr>
          <a:xfrm>
            <a:off x="5486400" y="4224528"/>
            <a:ext cx="3200400" cy="411480"/>
          </a:xfrm>
          <a:prstGeom prst="rect">
            <a:avLst/>
          </a:prstGeom>
          <a:noFill/>
          <a:ln/>
        </p:spPr>
        <p:txBody>
          <a:bodyPr wrap="square" lIns="0" tIns="0" rIns="0" bIns="0" rtlCol="0" anchor="ctr"/>
          <a:lstStyle/>
          <a:p>
            <a:pPr indent="0" marL="0">
              <a:buNone/>
            </a:pPr>
            <a:r>
              <a:rPr lang="en-US" sz="1050" b="1" dirty="0">
                <a:solidFill>
                  <a:schemeClr val="accent1"/>
                </a:solidFill>
              </a:rPr>
              <a:t>Next (M2–M3): human annotation + α → XLM-R / MuRIL fine-tune → IEEE paper + GitHub</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E9AAF"/>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LegalInk">
  <a:themeElements>
    <a:clrScheme name="LegalInk">
      <a:dk1>
        <a:srgbClr val="1B2A41"/>
      </a:dk1>
      <a:lt1>
        <a:srgbClr val="FFFFFF"/>
      </a:lt1>
      <a:dk2>
        <a:srgbClr val="2E4057"/>
      </a:dk2>
      <a:lt2>
        <a:srgbClr val="EEF2F6"/>
      </a:lt2>
      <a:accent1>
        <a:srgbClr val="C8892B"/>
      </a:accent1>
      <a:accent2>
        <a:srgbClr val="2A7F7A"/>
      </a:accent2>
      <a:accent3>
        <a:srgbClr val="B5452F"/>
      </a:accent3>
      <a:accent4>
        <a:srgbClr val="5B7DB1"/>
      </a:accent4>
      <a:accent5>
        <a:srgbClr val="8E9AAF"/>
      </a:accent5>
      <a:accent6>
        <a:srgbClr val="4F8A3C"/>
      </a:accent6>
      <a:hlink>
        <a:srgbClr val="2A7F7A"/>
      </a:hlink>
      <a:folHlink>
        <a:srgbClr val="5B7DB1"/>
      </a:folHlink>
    </a:clrScheme>
    <a:fontScheme name="Legal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Multilingual Legal Meaning Preservation Using JUDGEBERT</dc:title>
  <dc:subject>PptxGenJS Presentation</dc:subject>
  <dc:creator>CSET 346 Project Team</dc:creator>
  <cp:lastModifiedBy>CSET 346 Project Team</cp:lastModifiedBy>
  <cp:revision>1</cp:revision>
  <dcterms:created xsi:type="dcterms:W3CDTF">2026-10-14T05:56:06Z</dcterms:created>
  <dcterms:modified xsi:type="dcterms:W3CDTF">2026-10-14T05:56:06Z</dcterms:modified>
</cp:coreProperties>
</file>